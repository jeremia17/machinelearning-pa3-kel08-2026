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nton" charset="1" panose="00000500000000000000"/>
      <p:regular r:id="rId21"/>
    </p:embeddedFont>
    <p:embeddedFont>
      <p:font typeface="Open Sauce Bold" charset="1" panose="00000800000000000000"/>
      <p:regular r:id="rId22"/>
    </p:embeddedFont>
    <p:embeddedFont>
      <p:font typeface="Open Sauce" charset="1" panose="00000500000000000000"/>
      <p:regular r:id="rId23"/>
    </p:embeddedFont>
    <p:embeddedFont>
      <p:font typeface="Open Sauce Bold Italics"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3224434" y="3308099"/>
            <a:ext cx="11839132" cy="2079625"/>
          </a:xfrm>
          <a:prstGeom prst="rect">
            <a:avLst/>
          </a:prstGeom>
        </p:spPr>
        <p:txBody>
          <a:bodyPr anchor="t" rtlCol="false" tIns="0" lIns="0" bIns="0" rIns="0">
            <a:spAutoFit/>
          </a:bodyPr>
          <a:lstStyle/>
          <a:p>
            <a:pPr algn="ctr">
              <a:lnSpc>
                <a:spcPts val="5599"/>
              </a:lnSpc>
              <a:spcBef>
                <a:spcPct val="0"/>
              </a:spcBef>
            </a:pPr>
            <a:r>
              <a:rPr lang="en-US" sz="3999" spc="-79">
                <a:solidFill>
                  <a:srgbClr val="004AAD"/>
                </a:solidFill>
                <a:latin typeface="Anton"/>
                <a:ea typeface="Anton"/>
                <a:cs typeface="Anton"/>
                <a:sym typeface="Anton"/>
              </a:rPr>
              <a:t>PENGEMBANGAN</a:t>
            </a:r>
            <a:r>
              <a:rPr lang="en-US" sz="3999" spc="-79">
                <a:solidFill>
                  <a:srgbClr val="004AAD"/>
                </a:solidFill>
                <a:latin typeface="Anton"/>
                <a:ea typeface="Anton"/>
                <a:cs typeface="Anton"/>
                <a:sym typeface="Anton"/>
              </a:rPr>
              <a:t> MODEL KLASIFIKASI UNTUK MENDETEKSI TI</a:t>
            </a:r>
            <a:r>
              <a:rPr lang="en-US" sz="3999" spc="-79">
                <a:solidFill>
                  <a:srgbClr val="004AAD"/>
                </a:solidFill>
                <a:latin typeface="Anton"/>
                <a:ea typeface="Anton"/>
                <a:cs typeface="Anton"/>
                <a:sym typeface="Anton"/>
              </a:rPr>
              <a:t>NGKAT RISIKO STUNTING PADA BALITA MENGGUNAKAN DATA ANTROPOMETRI. </a:t>
            </a:r>
          </a:p>
        </p:txBody>
      </p:sp>
      <p:sp>
        <p:nvSpPr>
          <p:cNvPr name="TextBox 3" id="3"/>
          <p:cNvSpPr txBox="true"/>
          <p:nvPr/>
        </p:nvSpPr>
        <p:spPr>
          <a:xfrm rot="0">
            <a:off x="469517" y="6034984"/>
            <a:ext cx="8774281" cy="3981450"/>
          </a:xfrm>
          <a:prstGeom prst="rect">
            <a:avLst/>
          </a:prstGeom>
        </p:spPr>
        <p:txBody>
          <a:bodyPr anchor="t" rtlCol="false" tIns="0" lIns="0" bIns="0" rIns="0">
            <a:spAutoFit/>
          </a:bodyPr>
          <a:lstStyle/>
          <a:p>
            <a:pPr algn="l">
              <a:lnSpc>
                <a:spcPts val="2879"/>
              </a:lnSpc>
            </a:pPr>
            <a:r>
              <a:rPr lang="en-US" sz="2399" spc="-119" b="true">
                <a:solidFill>
                  <a:srgbClr val="004AAD"/>
                </a:solidFill>
                <a:latin typeface="Open Sauce Bold"/>
                <a:ea typeface="Open Sauce Bold"/>
                <a:cs typeface="Open Sauce Bold"/>
                <a:sym typeface="Open Sauce Bold"/>
              </a:rPr>
              <a:t>Kelompok 8</a:t>
            </a:r>
          </a:p>
          <a:p>
            <a:pPr algn="l">
              <a:lnSpc>
                <a:spcPts val="2879"/>
              </a:lnSpc>
            </a:pPr>
            <a:r>
              <a:rPr lang="en-US" sz="2399" spc="-119">
                <a:solidFill>
                  <a:srgbClr val="004AAD"/>
                </a:solidFill>
                <a:latin typeface="Open Sauce"/>
                <a:ea typeface="Open Sauce"/>
                <a:cs typeface="Open Sauce"/>
                <a:sym typeface="Open Sauce"/>
              </a:rPr>
              <a:t> </a:t>
            </a:r>
          </a:p>
          <a:p>
            <a:pPr algn="l">
              <a:lnSpc>
                <a:spcPts val="2879"/>
              </a:lnSpc>
            </a:pPr>
            <a:r>
              <a:rPr lang="en-US" sz="2399" spc="-119">
                <a:solidFill>
                  <a:srgbClr val="004AAD"/>
                </a:solidFill>
                <a:latin typeface="Open Sauce"/>
                <a:ea typeface="Open Sauce"/>
                <a:cs typeface="Open Sauce"/>
                <a:sym typeface="Open Sauce"/>
              </a:rPr>
              <a:t>11423004 Mars</a:t>
            </a:r>
            <a:r>
              <a:rPr lang="en-US" sz="2399" spc="-119">
                <a:solidFill>
                  <a:srgbClr val="004AAD"/>
                </a:solidFill>
                <a:latin typeface="Open Sauce"/>
                <a:ea typeface="Open Sauce"/>
                <a:cs typeface="Open Sauce"/>
                <a:sym typeface="Open Sauce"/>
              </a:rPr>
              <a:t>elino Tambunan</a:t>
            </a:r>
          </a:p>
          <a:p>
            <a:pPr algn="l">
              <a:lnSpc>
                <a:spcPts val="2879"/>
              </a:lnSpc>
            </a:pPr>
          </a:p>
          <a:p>
            <a:pPr algn="l">
              <a:lnSpc>
                <a:spcPts val="2879"/>
              </a:lnSpc>
            </a:pPr>
            <a:r>
              <a:rPr lang="en-US" sz="2399" spc="-119">
                <a:solidFill>
                  <a:srgbClr val="004AAD"/>
                </a:solidFill>
                <a:latin typeface="Open Sauce"/>
                <a:ea typeface="Open Sauce"/>
                <a:cs typeface="Open Sauce"/>
                <a:sym typeface="Open Sauce"/>
              </a:rPr>
              <a:t> 11423033 Rino Jeremia Christopher Gultom </a:t>
            </a:r>
          </a:p>
          <a:p>
            <a:pPr algn="l">
              <a:lnSpc>
                <a:spcPts val="2879"/>
              </a:lnSpc>
            </a:pPr>
          </a:p>
          <a:p>
            <a:pPr algn="l">
              <a:lnSpc>
                <a:spcPts val="2879"/>
              </a:lnSpc>
            </a:pPr>
            <a:r>
              <a:rPr lang="en-US" sz="2399" spc="-119">
                <a:solidFill>
                  <a:srgbClr val="004AAD"/>
                </a:solidFill>
                <a:latin typeface="Open Sauce"/>
                <a:ea typeface="Open Sauce"/>
                <a:cs typeface="Open Sauce"/>
                <a:sym typeface="Open Sauce"/>
              </a:rPr>
              <a:t>11423035 Elisabeth Pasaribu </a:t>
            </a:r>
          </a:p>
          <a:p>
            <a:pPr algn="l">
              <a:lnSpc>
                <a:spcPts val="2879"/>
              </a:lnSpc>
            </a:pPr>
          </a:p>
          <a:p>
            <a:pPr algn="l">
              <a:lnSpc>
                <a:spcPts val="2879"/>
              </a:lnSpc>
            </a:pPr>
            <a:r>
              <a:rPr lang="en-US" sz="2399" spc="-119">
                <a:solidFill>
                  <a:srgbClr val="004AAD"/>
                </a:solidFill>
                <a:latin typeface="Open Sauce"/>
                <a:ea typeface="Open Sauce"/>
                <a:cs typeface="Open Sauce"/>
                <a:sym typeface="Open Sauce"/>
              </a:rPr>
              <a:t>11423060 Gracia Anggraini Manik </a:t>
            </a:r>
          </a:p>
          <a:p>
            <a:pPr algn="l">
              <a:lnSpc>
                <a:spcPts val="2879"/>
              </a:lnSpc>
            </a:pPr>
          </a:p>
          <a:p>
            <a:pPr algn="l">
              <a:lnSpc>
                <a:spcPts val="2879"/>
              </a:lnSpc>
            </a:pPr>
            <a:r>
              <a:rPr lang="en-US" sz="2399" spc="-119">
                <a:solidFill>
                  <a:srgbClr val="004AAD"/>
                </a:solidFill>
                <a:latin typeface="Open Sauce"/>
                <a:ea typeface="Open Sauce"/>
                <a:cs typeface="Open Sauce"/>
                <a:sym typeface="Open Sauce"/>
              </a:rPr>
              <a:t>11423066 Stefani Margareth Rajagukguk</a:t>
            </a:r>
          </a:p>
        </p:txBody>
      </p:sp>
      <p:sp>
        <p:nvSpPr>
          <p:cNvPr name="TextBox 4" id="4"/>
          <p:cNvSpPr txBox="true"/>
          <p:nvPr/>
        </p:nvSpPr>
        <p:spPr>
          <a:xfrm rot="0">
            <a:off x="7635427" y="2556656"/>
            <a:ext cx="2754917" cy="361950"/>
          </a:xfrm>
          <a:prstGeom prst="rect">
            <a:avLst/>
          </a:prstGeom>
        </p:spPr>
        <p:txBody>
          <a:bodyPr anchor="t" rtlCol="false" tIns="0" lIns="0" bIns="0" rIns="0">
            <a:spAutoFit/>
          </a:bodyPr>
          <a:lstStyle/>
          <a:p>
            <a:pPr algn="l">
              <a:lnSpc>
                <a:spcPts val="2879"/>
              </a:lnSpc>
            </a:pPr>
            <a:r>
              <a:rPr lang="en-US" sz="2399" spc="-119" b="true">
                <a:solidFill>
                  <a:srgbClr val="004AAD"/>
                </a:solidFill>
                <a:latin typeface="Open Sauce Bold"/>
                <a:ea typeface="Open Sauce Bold"/>
                <a:cs typeface="Open Sauce Bold"/>
                <a:sym typeface="Open Sauce Bold"/>
              </a:rPr>
              <a:t>Machine Learning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310228" y="445268"/>
            <a:ext cx="2043978" cy="1981531"/>
            <a:chOff x="0" y="0"/>
            <a:chExt cx="915545" cy="887574"/>
          </a:xfrm>
        </p:grpSpPr>
        <p:sp>
          <p:nvSpPr>
            <p:cNvPr name="Freeform 3" id="3"/>
            <p:cNvSpPr/>
            <p:nvPr/>
          </p:nvSpPr>
          <p:spPr>
            <a:xfrm flipH="false" flipV="false" rot="0">
              <a:off x="0" y="0"/>
              <a:ext cx="915545" cy="887574"/>
            </a:xfrm>
            <a:custGeom>
              <a:avLst/>
              <a:gdLst/>
              <a:ahLst/>
              <a:cxnLst/>
              <a:rect r="r" b="b" t="t" l="l"/>
              <a:pathLst>
                <a:path h="887574" w="915545">
                  <a:moveTo>
                    <a:pt x="0" y="0"/>
                  </a:moveTo>
                  <a:lnTo>
                    <a:pt x="915545" y="0"/>
                  </a:lnTo>
                  <a:lnTo>
                    <a:pt x="915545" y="887574"/>
                  </a:lnTo>
                  <a:lnTo>
                    <a:pt x="0" y="887574"/>
                  </a:lnTo>
                  <a:close/>
                </a:path>
              </a:pathLst>
            </a:custGeom>
            <a:blipFill>
              <a:blip r:embed="rId2"/>
              <a:stretch>
                <a:fillRect l="-36277" t="0" r="-36277" b="0"/>
              </a:stretch>
            </a:blipFill>
            <a:ln w="28575" cap="sq">
              <a:solidFill>
                <a:srgbClr val="F0F0F0"/>
              </a:solidFill>
              <a:prstDash val="solid"/>
              <a:miter/>
            </a:ln>
          </p:spPr>
        </p:sp>
      </p:grpSp>
      <p:sp>
        <p:nvSpPr>
          <p:cNvPr name="TextBox 4" id="4"/>
          <p:cNvSpPr txBox="true"/>
          <p:nvPr/>
        </p:nvSpPr>
        <p:spPr>
          <a:xfrm rot="0">
            <a:off x="2746305" y="1309696"/>
            <a:ext cx="10070271" cy="856615"/>
          </a:xfrm>
          <a:prstGeom prst="rect">
            <a:avLst/>
          </a:prstGeom>
        </p:spPr>
        <p:txBody>
          <a:bodyPr anchor="t" rtlCol="false" tIns="0" lIns="0" bIns="0" rIns="0">
            <a:spAutoFit/>
          </a:bodyPr>
          <a:lstStyle/>
          <a:p>
            <a:pPr algn="l">
              <a:lnSpc>
                <a:spcPts val="6305"/>
              </a:lnSpc>
            </a:pPr>
            <a:r>
              <a:rPr lang="en-US" sz="6500" spc="-130">
                <a:solidFill>
                  <a:srgbClr val="F0F0F0"/>
                </a:solidFill>
                <a:latin typeface="Anton"/>
                <a:ea typeface="Anton"/>
                <a:cs typeface="Anton"/>
                <a:sym typeface="Anton"/>
              </a:rPr>
              <a:t>LATAR BELAKANG</a:t>
            </a:r>
          </a:p>
        </p:txBody>
      </p:sp>
      <p:sp>
        <p:nvSpPr>
          <p:cNvPr name="TextBox 5" id="5"/>
          <p:cNvSpPr txBox="true"/>
          <p:nvPr/>
        </p:nvSpPr>
        <p:spPr>
          <a:xfrm rot="0">
            <a:off x="2045248" y="3337127"/>
            <a:ext cx="13736020" cy="4857750"/>
          </a:xfrm>
          <a:prstGeom prst="rect">
            <a:avLst/>
          </a:prstGeom>
        </p:spPr>
        <p:txBody>
          <a:bodyPr anchor="t" rtlCol="false" tIns="0" lIns="0" bIns="0" rIns="0">
            <a:spAutoFit/>
          </a:bodyPr>
          <a:lstStyle/>
          <a:p>
            <a:pPr algn="just">
              <a:lnSpc>
                <a:spcPts val="3840"/>
              </a:lnSpc>
            </a:pPr>
            <a:r>
              <a:rPr lang="en-US" sz="3200" spc="-64">
                <a:solidFill>
                  <a:srgbClr val="F0F0F0"/>
                </a:solidFill>
                <a:latin typeface="Open Sauce"/>
                <a:ea typeface="Open Sauce"/>
                <a:cs typeface="Open Sauce"/>
                <a:sym typeface="Open Sauce"/>
              </a:rPr>
              <a:t>Stunting merupakan kondi</a:t>
            </a:r>
            <a:r>
              <a:rPr lang="en-US" sz="3200" spc="-64">
                <a:solidFill>
                  <a:srgbClr val="F0F0F0"/>
                </a:solidFill>
                <a:latin typeface="Open Sauce"/>
                <a:ea typeface="Open Sauce"/>
                <a:cs typeface="Open Sauce"/>
                <a:sym typeface="Open Sauce"/>
              </a:rPr>
              <a:t>si gangguan pertumbuhan pada anak akibat kekurangan gizi yang menyebabkan tinggi badan lebih rendah dari standar usianya. Guna mengatasi kelemahan pemantauan manual yang rentan terhadap keterlambatan deteksi, dikembangkanlah sebuah Sistem Pendeteksi Stunting pada Anak melalui Klasifikasi Data Antropometri Berbasis Web. Sistem terintegrasi ini secara otomatis menganalisis tingkat risiko stunting anak menggunakan parameter dasar seperti usia, berat badan, dan tinggi badan.Sistem ini terintegrasi dengan API sehingga dapat membantu bidan dalam melakukan pemantauan serta pengambilan keputusan secara lebih cepat, efektif, dan efisien.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782472" y="1352244"/>
            <a:ext cx="6689767" cy="856615"/>
          </a:xfrm>
          <a:prstGeom prst="rect">
            <a:avLst/>
          </a:prstGeom>
        </p:spPr>
        <p:txBody>
          <a:bodyPr anchor="t" rtlCol="false" tIns="0" lIns="0" bIns="0" rIns="0">
            <a:spAutoFit/>
          </a:bodyPr>
          <a:lstStyle/>
          <a:p>
            <a:pPr algn="l" marL="0" indent="0" lvl="0">
              <a:lnSpc>
                <a:spcPts val="6305"/>
              </a:lnSpc>
              <a:spcBef>
                <a:spcPct val="0"/>
              </a:spcBef>
            </a:pPr>
            <a:r>
              <a:rPr lang="en-US" sz="6500" spc="-130">
                <a:solidFill>
                  <a:srgbClr val="004AAD"/>
                </a:solidFill>
                <a:latin typeface="Anton"/>
                <a:ea typeface="Anton"/>
                <a:cs typeface="Anton"/>
                <a:sym typeface="Anton"/>
              </a:rPr>
              <a:t>TUJUAN PROYEK</a:t>
            </a:r>
          </a:p>
        </p:txBody>
      </p:sp>
      <p:sp>
        <p:nvSpPr>
          <p:cNvPr name="TextBox 3" id="3"/>
          <p:cNvSpPr txBox="true"/>
          <p:nvPr/>
        </p:nvSpPr>
        <p:spPr>
          <a:xfrm rot="0">
            <a:off x="1857870" y="2629844"/>
            <a:ext cx="14572260" cy="6315075"/>
          </a:xfrm>
          <a:prstGeom prst="rect">
            <a:avLst/>
          </a:prstGeom>
        </p:spPr>
        <p:txBody>
          <a:bodyPr anchor="t" rtlCol="false" tIns="0" lIns="0" bIns="0" rIns="0">
            <a:spAutoFit/>
          </a:bodyPr>
          <a:lstStyle/>
          <a:p>
            <a:pPr algn="l">
              <a:lnSpc>
                <a:spcPts val="3840"/>
              </a:lnSpc>
            </a:pPr>
          </a:p>
          <a:p>
            <a:pPr algn="l" marL="690881" indent="-345440" lvl="1">
              <a:lnSpc>
                <a:spcPts val="3840"/>
              </a:lnSpc>
              <a:buAutoNum type="arabicPeriod" startAt="1"/>
            </a:pPr>
            <a:r>
              <a:rPr lang="en-US" sz="3200" spc="-64">
                <a:solidFill>
                  <a:srgbClr val="004AAD"/>
                </a:solidFill>
                <a:latin typeface="Open Sauce"/>
                <a:ea typeface="Open Sauce"/>
                <a:cs typeface="Open Sauce"/>
                <a:sym typeface="Open Sauce"/>
              </a:rPr>
              <a:t>Membangan model machine learning yang dapat mendeteksi risiko  stunting pada anak berdasarkan data pertumbuhan anak.</a:t>
            </a:r>
          </a:p>
          <a:p>
            <a:pPr algn="l" marL="690881" indent="-345440" lvl="1">
              <a:lnSpc>
                <a:spcPts val="3840"/>
              </a:lnSpc>
              <a:buAutoNum type="arabicPeriod" startAt="1"/>
            </a:pPr>
            <a:r>
              <a:rPr lang="en-US" sz="3200" spc="-64">
                <a:solidFill>
                  <a:srgbClr val="004AAD"/>
                </a:solidFill>
                <a:latin typeface="Open Sauce"/>
                <a:ea typeface="Open Sauce"/>
                <a:cs typeface="Open Sauce"/>
                <a:sym typeface="Open Sauce"/>
              </a:rPr>
              <a:t>Melakukan preprocessing dan feature engineering untuk menghasilkan data dan fitur yang sesuai sehingga meningkatkan kualitas untuk melatih model.</a:t>
            </a:r>
          </a:p>
          <a:p>
            <a:pPr algn="l" marL="690881" indent="-345440" lvl="1">
              <a:lnSpc>
                <a:spcPts val="3840"/>
              </a:lnSpc>
              <a:buAutoNum type="arabicPeriod" startAt="1"/>
            </a:pPr>
            <a:r>
              <a:rPr lang="en-US" sz="3200" spc="-64">
                <a:solidFill>
                  <a:srgbClr val="004AAD"/>
                </a:solidFill>
                <a:latin typeface="Open Sauce"/>
                <a:ea typeface="Open Sauce"/>
                <a:cs typeface="Open Sauce"/>
                <a:sym typeface="Open Sauce"/>
              </a:rPr>
              <a:t>Meningkatkan performa model untuk mendeteksi stunting pada dataset yang memiliki missing value dan imbalanced data melalui preprocessing, oversampling dan hyperparameter tuning.</a:t>
            </a:r>
          </a:p>
          <a:p>
            <a:pPr algn="l" marL="690881" indent="-345440" lvl="1">
              <a:lnSpc>
                <a:spcPts val="3840"/>
              </a:lnSpc>
              <a:buAutoNum type="arabicPeriod" startAt="1"/>
            </a:pPr>
            <a:r>
              <a:rPr lang="en-US" sz="3200" spc="-64">
                <a:solidFill>
                  <a:srgbClr val="004AAD"/>
                </a:solidFill>
                <a:latin typeface="Open Sauce"/>
                <a:ea typeface="Open Sauce"/>
                <a:cs typeface="Open Sauce"/>
                <a:sym typeface="Open Sauce"/>
              </a:rPr>
              <a:t>Mengintegrasikan model machine learning pada layanan API menggunakan FastAPI sehingga dapat diakses dan digunakan pada web dan mobile.</a:t>
            </a:r>
          </a:p>
          <a:p>
            <a:pPr algn="l">
              <a:lnSpc>
                <a:spcPts val="3840"/>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6299034" y="1410955"/>
            <a:ext cx="8202640" cy="856615"/>
          </a:xfrm>
          <a:prstGeom prst="rect">
            <a:avLst/>
          </a:prstGeom>
        </p:spPr>
        <p:txBody>
          <a:bodyPr anchor="t" rtlCol="false" tIns="0" lIns="0" bIns="0" rIns="0">
            <a:spAutoFit/>
          </a:bodyPr>
          <a:lstStyle/>
          <a:p>
            <a:pPr algn="l" marL="0" indent="0" lvl="0">
              <a:lnSpc>
                <a:spcPts val="6304"/>
              </a:lnSpc>
              <a:spcBef>
                <a:spcPct val="0"/>
              </a:spcBef>
            </a:pPr>
            <a:r>
              <a:rPr lang="en-US" sz="6499" spc="-129">
                <a:solidFill>
                  <a:srgbClr val="F0F0F0"/>
                </a:solidFill>
                <a:latin typeface="Anton"/>
                <a:ea typeface="Anton"/>
                <a:cs typeface="Anton"/>
                <a:sym typeface="Anton"/>
              </a:rPr>
              <a:t>MANFAAT PROYEK</a:t>
            </a:r>
          </a:p>
        </p:txBody>
      </p:sp>
      <p:sp>
        <p:nvSpPr>
          <p:cNvPr name="TextBox 3" id="3"/>
          <p:cNvSpPr txBox="true"/>
          <p:nvPr/>
        </p:nvSpPr>
        <p:spPr>
          <a:xfrm rot="0">
            <a:off x="1028700" y="3521732"/>
            <a:ext cx="16454443" cy="4857750"/>
          </a:xfrm>
          <a:prstGeom prst="rect">
            <a:avLst/>
          </a:prstGeom>
        </p:spPr>
        <p:txBody>
          <a:bodyPr anchor="t" rtlCol="false" tIns="0" lIns="0" bIns="0" rIns="0">
            <a:spAutoFit/>
          </a:bodyPr>
          <a:lstStyle/>
          <a:p>
            <a:pPr algn="l">
              <a:lnSpc>
                <a:spcPts val="3840"/>
              </a:lnSpc>
            </a:pPr>
            <a:r>
              <a:rPr lang="en-US" b="true" sz="3200" spc="-64" u="sng">
                <a:solidFill>
                  <a:srgbClr val="F0F0F0"/>
                </a:solidFill>
                <a:latin typeface="Open Sauce Bold"/>
                <a:ea typeface="Open Sauce Bold"/>
                <a:cs typeface="Open Sauce Bold"/>
                <a:sym typeface="Open Sauce Bold"/>
              </a:rPr>
              <a:t>Manfaat Akad</a:t>
            </a:r>
            <a:r>
              <a:rPr lang="en-US" b="true" sz="3200" spc="-64" u="sng">
                <a:solidFill>
                  <a:srgbClr val="F0F0F0"/>
                </a:solidFill>
                <a:latin typeface="Open Sauce Bold"/>
                <a:ea typeface="Open Sauce Bold"/>
                <a:cs typeface="Open Sauce Bold"/>
                <a:sym typeface="Open Sauce Bold"/>
              </a:rPr>
              <a:t>emik</a:t>
            </a:r>
          </a:p>
          <a:p>
            <a:pPr algn="l">
              <a:lnSpc>
                <a:spcPts val="3840"/>
              </a:lnSpc>
            </a:pPr>
            <a:r>
              <a:rPr lang="en-US" sz="3200" spc="-64">
                <a:solidFill>
                  <a:srgbClr val="F0F0F0"/>
                </a:solidFill>
                <a:latin typeface="Open Sauce"/>
                <a:ea typeface="Open Sauce"/>
                <a:cs typeface="Open Sauce"/>
                <a:sym typeface="Open Sauce"/>
              </a:rPr>
              <a:t>Proyek ini menunjukkan penerapan machine learning untuk mendeteksi risiko stunting melalui tahapan lengkap machine learning pipeline serta integrasi model dengan layanan FastAPI untuk mendukung aplikasi web dan mobile.</a:t>
            </a:r>
          </a:p>
          <a:p>
            <a:pPr algn="l">
              <a:lnSpc>
                <a:spcPts val="3840"/>
              </a:lnSpc>
            </a:pPr>
          </a:p>
          <a:p>
            <a:pPr algn="l">
              <a:lnSpc>
                <a:spcPts val="3840"/>
              </a:lnSpc>
            </a:pPr>
            <a:r>
              <a:rPr lang="en-US" b="true" sz="3200" spc="-64" u="sng">
                <a:solidFill>
                  <a:srgbClr val="F0F0F0"/>
                </a:solidFill>
                <a:latin typeface="Open Sauce Bold"/>
                <a:ea typeface="Open Sauce Bold"/>
                <a:cs typeface="Open Sauce Bold"/>
                <a:sym typeface="Open Sauce Bold"/>
              </a:rPr>
              <a:t>Manfaat Praktis</a:t>
            </a:r>
          </a:p>
          <a:p>
            <a:pPr algn="l">
              <a:lnSpc>
                <a:spcPts val="3840"/>
              </a:lnSpc>
            </a:pPr>
            <a:r>
              <a:rPr lang="en-US" sz="3200" spc="-64">
                <a:solidFill>
                  <a:srgbClr val="F0F0F0"/>
                </a:solidFill>
                <a:latin typeface="Open Sauce"/>
                <a:ea typeface="Open Sauce"/>
                <a:cs typeface="Open Sauce"/>
                <a:sym typeface="Open Sauce"/>
              </a:rPr>
              <a:t>Sistem membantu deteksi dini risiko stunting berdasarkan data pertumbuhan anak serta memudahkan bidan dalam melakukan monitoring pertumbuhan anak melalui aplikasi web secara lebih cepat dan efisien.</a:t>
            </a:r>
          </a:p>
          <a:p>
            <a:pPr algn="l">
              <a:lnSpc>
                <a:spcPts val="3840"/>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3714820" y="2096068"/>
            <a:ext cx="11652191" cy="856615"/>
          </a:xfrm>
          <a:prstGeom prst="rect">
            <a:avLst/>
          </a:prstGeom>
        </p:spPr>
        <p:txBody>
          <a:bodyPr anchor="t" rtlCol="false" tIns="0" lIns="0" bIns="0" rIns="0">
            <a:spAutoFit/>
          </a:bodyPr>
          <a:lstStyle/>
          <a:p>
            <a:pPr algn="l" marL="0" indent="0" lvl="0">
              <a:lnSpc>
                <a:spcPts val="6305"/>
              </a:lnSpc>
              <a:spcBef>
                <a:spcPct val="0"/>
              </a:spcBef>
            </a:pPr>
            <a:r>
              <a:rPr lang="en-US" sz="6500" spc="-130">
                <a:solidFill>
                  <a:srgbClr val="004AAD"/>
                </a:solidFill>
                <a:latin typeface="Anton"/>
                <a:ea typeface="Anton"/>
                <a:cs typeface="Anton"/>
                <a:sym typeface="Anton"/>
              </a:rPr>
              <a:t>KARAKTERISTIK MACHINE LEARNING</a:t>
            </a:r>
          </a:p>
        </p:txBody>
      </p:sp>
      <p:sp>
        <p:nvSpPr>
          <p:cNvPr name="TextBox 3" id="3"/>
          <p:cNvSpPr txBox="true"/>
          <p:nvPr/>
        </p:nvSpPr>
        <p:spPr>
          <a:xfrm rot="0">
            <a:off x="2366816" y="4150779"/>
            <a:ext cx="13554368" cy="4114800"/>
          </a:xfrm>
          <a:prstGeom prst="rect">
            <a:avLst/>
          </a:prstGeom>
        </p:spPr>
        <p:txBody>
          <a:bodyPr anchor="t" rtlCol="false" tIns="0" lIns="0" bIns="0" rIns="0">
            <a:spAutoFit/>
          </a:bodyPr>
          <a:lstStyle/>
          <a:p>
            <a:pPr algn="just">
              <a:lnSpc>
                <a:spcPts val="4106"/>
              </a:lnSpc>
            </a:pPr>
            <a:r>
              <a:rPr lang="en-US" sz="3422" spc="-68">
                <a:solidFill>
                  <a:srgbClr val="004AAD"/>
                </a:solidFill>
                <a:latin typeface="Open Sauce"/>
                <a:ea typeface="Open Sauce"/>
                <a:cs typeface="Open Sauce"/>
                <a:sym typeface="Open Sauce"/>
              </a:rPr>
              <a:t>Sistem menggunakan</a:t>
            </a:r>
            <a:r>
              <a:rPr lang="en-US" sz="3422" spc="-68">
                <a:solidFill>
                  <a:srgbClr val="004AAD"/>
                </a:solidFill>
                <a:latin typeface="Open Sauce"/>
                <a:ea typeface="Open Sauce"/>
                <a:cs typeface="Open Sauce"/>
                <a:sym typeface="Open Sauce"/>
              </a:rPr>
              <a:t> supervised machine learning untuk mengklasifikasikan anak ke dalam kategori normal, stunting dengan Risiko rendah, stunting dengan Risiko sedang, stunting dengan Risiko tinggi. Data melalui tahap preprocessing, feature engineering, dan oversampling sebelum pelatihan model. Model kemudian dioptimalkan melalui hyperparameter tuning dan diintegrasikan ke dalam API agar dapat digunakan oleh aplikasi web dan mobile.</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2669425" y="879973"/>
            <a:ext cx="15151141" cy="856615"/>
          </a:xfrm>
          <a:prstGeom prst="rect">
            <a:avLst/>
          </a:prstGeom>
        </p:spPr>
        <p:txBody>
          <a:bodyPr anchor="t" rtlCol="false" tIns="0" lIns="0" bIns="0" rIns="0">
            <a:spAutoFit/>
          </a:bodyPr>
          <a:lstStyle/>
          <a:p>
            <a:pPr algn="l" marL="0" indent="0" lvl="0">
              <a:lnSpc>
                <a:spcPts val="6304"/>
              </a:lnSpc>
              <a:spcBef>
                <a:spcPct val="0"/>
              </a:spcBef>
            </a:pPr>
            <a:r>
              <a:rPr lang="en-US" sz="6499" spc="-129">
                <a:solidFill>
                  <a:srgbClr val="F0F0F0"/>
                </a:solidFill>
                <a:latin typeface="Anton"/>
                <a:ea typeface="Anton"/>
                <a:cs typeface="Anton"/>
                <a:sym typeface="Anton"/>
              </a:rPr>
              <a:t>FASE 1: PERSIAPAN DAN EKSPLORASI DATA AWAL</a:t>
            </a:r>
          </a:p>
        </p:txBody>
      </p:sp>
      <p:sp>
        <p:nvSpPr>
          <p:cNvPr name="TextBox 3" id="3"/>
          <p:cNvSpPr txBox="true"/>
          <p:nvPr/>
        </p:nvSpPr>
        <p:spPr>
          <a:xfrm rot="0">
            <a:off x="730428" y="2350560"/>
            <a:ext cx="8095914" cy="3168650"/>
          </a:xfrm>
          <a:prstGeom prst="rect">
            <a:avLst/>
          </a:prstGeom>
        </p:spPr>
        <p:txBody>
          <a:bodyPr anchor="t" rtlCol="false" tIns="0" lIns="0" bIns="0" rIns="0">
            <a:spAutoFit/>
          </a:bodyPr>
          <a:lstStyle/>
          <a:p>
            <a:pPr algn="l">
              <a:lnSpc>
                <a:spcPts val="2800"/>
              </a:lnSpc>
              <a:spcBef>
                <a:spcPct val="0"/>
              </a:spcBef>
            </a:pPr>
          </a:p>
          <a:p>
            <a:pPr algn="l">
              <a:lnSpc>
                <a:spcPts val="2800"/>
              </a:lnSpc>
              <a:spcBef>
                <a:spcPct val="0"/>
              </a:spcBef>
            </a:pPr>
            <a:r>
              <a:rPr lang="en-US" sz="2000" spc="-40">
                <a:solidFill>
                  <a:srgbClr val="F0F0F0"/>
                </a:solidFill>
                <a:latin typeface="Open Sauce"/>
                <a:ea typeface="Open Sauce"/>
                <a:cs typeface="Open Sauce"/>
                <a:sym typeface="Open Sauce"/>
              </a:rPr>
              <a:t>Step 1: Import Library</a:t>
            </a:r>
          </a:p>
          <a:p>
            <a:pPr algn="l">
              <a:lnSpc>
                <a:spcPts val="2800"/>
              </a:lnSpc>
              <a:spcBef>
                <a:spcPct val="0"/>
              </a:spcBef>
            </a:pPr>
            <a:r>
              <a:rPr lang="en-US" sz="2000" spc="-40">
                <a:solidFill>
                  <a:srgbClr val="F0F0F0"/>
                </a:solidFill>
                <a:latin typeface="Open Sauce"/>
                <a:ea typeface="Open Sauce"/>
                <a:cs typeface="Open Sauce"/>
                <a:sym typeface="Open Sauce"/>
              </a:rPr>
              <a:t>Modul utama yang digunakan meliputi: </a:t>
            </a:r>
          </a:p>
          <a:p>
            <a:pPr algn="l">
              <a:lnSpc>
                <a:spcPts val="2800"/>
              </a:lnSpc>
              <a:spcBef>
                <a:spcPct val="0"/>
              </a:spcBef>
            </a:pPr>
            <a:r>
              <a:rPr lang="en-US" sz="2000" spc="-40">
                <a:solidFill>
                  <a:srgbClr val="F0F0F0"/>
                </a:solidFill>
                <a:latin typeface="Open Sauce"/>
                <a:ea typeface="Open Sauce"/>
                <a:cs typeface="Open Sauce"/>
                <a:sym typeface="Open Sauce"/>
              </a:rPr>
              <a:t>pandas, numpy, matplotlib, seaborn(Visualisasi)</a:t>
            </a:r>
          </a:p>
          <a:p>
            <a:pPr algn="l">
              <a:lnSpc>
                <a:spcPts val="2800"/>
              </a:lnSpc>
              <a:spcBef>
                <a:spcPct val="0"/>
              </a:spcBef>
            </a:pPr>
            <a:r>
              <a:rPr lang="en-US" sz="2000" spc="-40">
                <a:solidFill>
                  <a:srgbClr val="F0F0F0"/>
                </a:solidFill>
                <a:latin typeface="Open Sauce"/>
                <a:ea typeface="Open Sauce"/>
                <a:cs typeface="Open Sauce"/>
                <a:sym typeface="Open Sauce"/>
              </a:rPr>
              <a:t>scikit-learn(Preprocessing, Splitting, Selection, Baseline/Ensemble Models), xgboost, lightgbm(Gradient Boosting), imblearn(SMOTE)</a:t>
            </a:r>
          </a:p>
          <a:p>
            <a:pPr algn="l">
              <a:lnSpc>
                <a:spcPts val="2800"/>
              </a:lnSpc>
              <a:spcBef>
                <a:spcPct val="0"/>
              </a:spcBef>
            </a:pPr>
            <a:r>
              <a:rPr lang="en-US" sz="2000" spc="-40">
                <a:solidFill>
                  <a:srgbClr val="F0F0F0"/>
                </a:solidFill>
                <a:latin typeface="Open Sauce"/>
                <a:ea typeface="Open Sauce"/>
                <a:cs typeface="Open Sauce"/>
                <a:sym typeface="Open Sauce"/>
              </a:rPr>
              <a:t>optuna(Tuning), shap(Explainability), joblib(menyimpan model).</a:t>
            </a:r>
          </a:p>
          <a:p>
            <a:pPr algn="l">
              <a:lnSpc>
                <a:spcPts val="2800"/>
              </a:lnSpc>
              <a:spcBef>
                <a:spcPct val="0"/>
              </a:spcBef>
            </a:pPr>
          </a:p>
          <a:p>
            <a:pPr algn="l">
              <a:lnSpc>
                <a:spcPts val="2800"/>
              </a:lnSpc>
              <a:spcBef>
                <a:spcPct val="0"/>
              </a:spcBef>
            </a:pPr>
          </a:p>
        </p:txBody>
      </p:sp>
      <p:sp>
        <p:nvSpPr>
          <p:cNvPr name="TextBox 4" id="4"/>
          <p:cNvSpPr txBox="true"/>
          <p:nvPr/>
        </p:nvSpPr>
        <p:spPr>
          <a:xfrm rot="0">
            <a:off x="626524" y="5237777"/>
            <a:ext cx="14088814" cy="2816225"/>
          </a:xfrm>
          <a:prstGeom prst="rect">
            <a:avLst/>
          </a:prstGeom>
        </p:spPr>
        <p:txBody>
          <a:bodyPr anchor="t" rtlCol="false" tIns="0" lIns="0" bIns="0" rIns="0">
            <a:spAutoFit/>
          </a:bodyPr>
          <a:lstStyle/>
          <a:p>
            <a:pPr algn="l">
              <a:lnSpc>
                <a:spcPts val="2800"/>
              </a:lnSpc>
              <a:spcBef>
                <a:spcPct val="0"/>
              </a:spcBef>
            </a:pPr>
            <a:r>
              <a:rPr lang="en-US" sz="2000" spc="-40">
                <a:solidFill>
                  <a:srgbClr val="F0F0F0"/>
                </a:solidFill>
                <a:latin typeface="Open Sauce"/>
                <a:ea typeface="Open Sauce"/>
                <a:cs typeface="Open Sauce"/>
                <a:sym typeface="Open Sauce"/>
              </a:rPr>
              <a:t>Step 2: Load Dataset</a:t>
            </a:r>
          </a:p>
          <a:p>
            <a:pPr algn="l">
              <a:lnSpc>
                <a:spcPts val="2800"/>
              </a:lnSpc>
              <a:spcBef>
                <a:spcPct val="0"/>
              </a:spcBef>
            </a:pPr>
            <a:r>
              <a:rPr lang="en-US" sz="2000" spc="-40">
                <a:solidFill>
                  <a:srgbClr val="F0F0F0"/>
                </a:solidFill>
                <a:latin typeface="Open Sauce"/>
                <a:ea typeface="Open Sauce"/>
                <a:cs typeface="Open Sauce"/>
                <a:sym typeface="Open Sauce"/>
              </a:rPr>
              <a:t>dataset dimuat raw_dataset.csv</a:t>
            </a:r>
          </a:p>
          <a:p>
            <a:pPr algn="l">
              <a:lnSpc>
                <a:spcPts val="2800"/>
              </a:lnSpc>
              <a:spcBef>
                <a:spcPct val="0"/>
              </a:spcBef>
            </a:pPr>
          </a:p>
          <a:p>
            <a:pPr algn="l">
              <a:lnSpc>
                <a:spcPts val="2800"/>
              </a:lnSpc>
              <a:spcBef>
                <a:spcPct val="0"/>
              </a:spcBef>
            </a:pPr>
            <a:r>
              <a:rPr lang="en-US" sz="2000" spc="-40">
                <a:solidFill>
                  <a:srgbClr val="F0F0F0"/>
                </a:solidFill>
                <a:latin typeface="Open Sauce"/>
                <a:ea typeface="Open Sauce"/>
                <a:cs typeface="Open Sauce"/>
                <a:sym typeface="Open Sauce"/>
              </a:rPr>
              <a:t>Step 3: Initial Inspection</a:t>
            </a:r>
          </a:p>
          <a:p>
            <a:pPr algn="l">
              <a:lnSpc>
                <a:spcPts val="2800"/>
              </a:lnSpc>
              <a:spcBef>
                <a:spcPct val="0"/>
              </a:spcBef>
            </a:pPr>
            <a:r>
              <a:rPr lang="en-US" sz="2000" spc="-40">
                <a:solidFill>
                  <a:srgbClr val="F0F0F0"/>
                </a:solidFill>
                <a:latin typeface="Open Sauce"/>
                <a:ea typeface="Open Sauce"/>
                <a:cs typeface="Open Sauce"/>
                <a:sym typeface="Open Sauce"/>
              </a:rPr>
              <a:t>Pemeriksaan awal dilakukan dengan</a:t>
            </a:r>
          </a:p>
          <a:p>
            <a:pPr algn="l">
              <a:lnSpc>
                <a:spcPts val="2800"/>
              </a:lnSpc>
              <a:spcBef>
                <a:spcPct val="0"/>
              </a:spcBef>
            </a:pPr>
            <a:r>
              <a:rPr lang="en-US" sz="2000" spc="-40">
                <a:solidFill>
                  <a:srgbClr val="F0F0F0"/>
                </a:solidFill>
                <a:latin typeface="Open Sauce"/>
                <a:ea typeface="Open Sauce"/>
                <a:cs typeface="Open Sauce"/>
                <a:sym typeface="Open Sauce"/>
              </a:rPr>
              <a:t>mengevaluasi informasi tipe data</a:t>
            </a:r>
          </a:p>
          <a:p>
            <a:pPr algn="l">
              <a:lnSpc>
                <a:spcPts val="2800"/>
              </a:lnSpc>
              <a:spcBef>
                <a:spcPct val="0"/>
              </a:spcBef>
            </a:pPr>
            <a:r>
              <a:rPr lang="en-US" sz="2000" spc="-40">
                <a:solidFill>
                  <a:srgbClr val="F0F0F0"/>
                </a:solidFill>
                <a:latin typeface="Open Sauce"/>
                <a:ea typeface="Open Sauce"/>
                <a:cs typeface="Open Sauce"/>
                <a:sym typeface="Open Sauce"/>
              </a:rPr>
              <a:t>statistik deskriptif metrik numerik</a:t>
            </a:r>
          </a:p>
          <a:p>
            <a:pPr algn="l">
              <a:lnSpc>
                <a:spcPts val="2800"/>
              </a:lnSpc>
              <a:spcBef>
                <a:spcPct val="0"/>
              </a:spcBef>
            </a:pPr>
            <a:r>
              <a:rPr lang="en-US" sz="2000" spc="-40">
                <a:solidFill>
                  <a:srgbClr val="F0F0F0"/>
                </a:solidFill>
                <a:latin typeface="Open Sauce"/>
                <a:ea typeface="Open Sauce"/>
                <a:cs typeface="Open Sauce"/>
                <a:sym typeface="Open Sauce"/>
              </a:rPr>
              <a:t>pembuatan laporan rinci mengenai missing value dan nilai tidak valid (seperti outlier string atau sel kosong tersembunyi).</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1983025" y="1396476"/>
            <a:ext cx="14321950" cy="8094122"/>
          </a:xfrm>
          <a:prstGeom prst="rect">
            <a:avLst/>
          </a:prstGeom>
        </p:spPr>
        <p:txBody>
          <a:bodyPr anchor="t" rtlCol="false" tIns="0" lIns="0" bIns="0" rIns="0">
            <a:spAutoFit/>
          </a:bodyPr>
          <a:lstStyle/>
          <a:p>
            <a:pPr algn="ctr">
              <a:lnSpc>
                <a:spcPts val="5367"/>
              </a:lnSpc>
              <a:spcBef>
                <a:spcPct val="0"/>
              </a:spcBef>
            </a:pPr>
            <a:r>
              <a:rPr lang="en-US" sz="3833" spc="-76">
                <a:solidFill>
                  <a:srgbClr val="F0F0F0"/>
                </a:solidFill>
                <a:latin typeface="Anton"/>
                <a:ea typeface="Anton"/>
                <a:cs typeface="Anton"/>
                <a:sym typeface="Anton"/>
              </a:rPr>
              <a:t>FASE 2: PEMBERSIHAN DAN REKAYASA DATA</a:t>
            </a:r>
          </a:p>
          <a:p>
            <a:pPr algn="ctr">
              <a:lnSpc>
                <a:spcPts val="5367"/>
              </a:lnSpc>
              <a:spcBef>
                <a:spcPct val="0"/>
              </a:spcBef>
            </a:pPr>
          </a:p>
          <a:p>
            <a:pPr algn="l">
              <a:lnSpc>
                <a:spcPts val="5367"/>
              </a:lnSpc>
              <a:spcBef>
                <a:spcPct val="0"/>
              </a:spcBef>
            </a:pPr>
            <a:r>
              <a:rPr lang="en-US" sz="3833" spc="-76">
                <a:solidFill>
                  <a:srgbClr val="F0F0F0"/>
                </a:solidFill>
                <a:latin typeface="Open Sauce"/>
                <a:ea typeface="Open Sauce"/>
                <a:cs typeface="Open Sauce"/>
                <a:sym typeface="Open Sauce"/>
              </a:rPr>
              <a:t>Step 4: Data Cleaning</a:t>
            </a:r>
          </a:p>
          <a:p>
            <a:pPr algn="l">
              <a:lnSpc>
                <a:spcPts val="5367"/>
              </a:lnSpc>
              <a:spcBef>
                <a:spcPct val="0"/>
              </a:spcBef>
            </a:pPr>
            <a:r>
              <a:rPr lang="en-US" sz="3833" spc="-76">
                <a:solidFill>
                  <a:srgbClr val="F0F0F0"/>
                </a:solidFill>
                <a:latin typeface="Open Sauce"/>
                <a:ea typeface="Open Sauce"/>
                <a:cs typeface="Open Sauce"/>
                <a:sym typeface="Open Sauce"/>
              </a:rPr>
              <a:t>Langkah pembersihan meliputi:</a:t>
            </a:r>
          </a:p>
          <a:p>
            <a:pPr algn="l">
              <a:lnSpc>
                <a:spcPts val="5367"/>
              </a:lnSpc>
              <a:spcBef>
                <a:spcPct val="0"/>
              </a:spcBef>
            </a:pPr>
            <a:r>
              <a:rPr lang="en-US" sz="3833" spc="-76">
                <a:solidFill>
                  <a:srgbClr val="F0F0F0"/>
                </a:solidFill>
                <a:latin typeface="Open Sauce"/>
                <a:ea typeface="Open Sauce"/>
                <a:cs typeface="Open Sauce"/>
                <a:sym typeface="Open Sauce"/>
              </a:rPr>
              <a:t> Koreksi satuan berat badan lahir (konversi nilai dalam gram menjadi kilogram).</a:t>
            </a:r>
          </a:p>
          <a:p>
            <a:pPr algn="l">
              <a:lnSpc>
                <a:spcPts val="5367"/>
              </a:lnSpc>
              <a:spcBef>
                <a:spcPct val="0"/>
              </a:spcBef>
            </a:pPr>
            <a:r>
              <a:rPr lang="en-US" sz="3833" spc="-76">
                <a:solidFill>
                  <a:srgbClr val="F0F0F0"/>
                </a:solidFill>
                <a:latin typeface="Open Sauce"/>
                <a:ea typeface="Open Sauce"/>
                <a:cs typeface="Open Sauce"/>
                <a:sym typeface="Open Sauce"/>
              </a:rPr>
              <a:t>Penghapusan outlier fisik tak wajar berdasarkan batas biologis balita usia 0–5 tahun.</a:t>
            </a:r>
          </a:p>
          <a:p>
            <a:pPr algn="l">
              <a:lnSpc>
                <a:spcPts val="5367"/>
              </a:lnSpc>
              <a:spcBef>
                <a:spcPct val="0"/>
              </a:spcBef>
            </a:pPr>
            <a:r>
              <a:rPr lang="en-US" sz="3833" spc="-76">
                <a:solidFill>
                  <a:srgbClr val="F0F0F0"/>
                </a:solidFill>
                <a:latin typeface="Open Sauce"/>
                <a:ea typeface="Open Sauce"/>
                <a:cs typeface="Open Sauce"/>
                <a:sym typeface="Open Sauce"/>
              </a:rPr>
              <a:t>Pemotongan (clipping) nilai ekstrem pada ZS BB/U ke rentang [-5, 5].</a:t>
            </a:r>
          </a:p>
          <a:p>
            <a:pPr algn="l">
              <a:lnSpc>
                <a:spcPts val="5367"/>
              </a:lnSpc>
              <a:spcBef>
                <a:spcPct val="0"/>
              </a:spcBef>
            </a:pPr>
            <a:r>
              <a:rPr lang="en-US" sz="3833" spc="-76">
                <a:solidFill>
                  <a:srgbClr val="F0F0F0"/>
                </a:solidFill>
                <a:latin typeface="Open Sauce"/>
                <a:ea typeface="Open Sauce"/>
                <a:cs typeface="Open Sauce"/>
                <a:sym typeface="Open Sauce"/>
              </a:rPr>
              <a:t>Imputasi nilai kosong pada fitur Lingkar Lengan Atas (LiLA) menggunakan nilai median.</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1704198" y="410121"/>
            <a:ext cx="15555102" cy="9400083"/>
          </a:xfrm>
          <a:prstGeom prst="rect">
            <a:avLst/>
          </a:prstGeom>
        </p:spPr>
        <p:txBody>
          <a:bodyPr anchor="t" rtlCol="false" tIns="0" lIns="0" bIns="0" rIns="0">
            <a:spAutoFit/>
          </a:bodyPr>
          <a:lstStyle/>
          <a:p>
            <a:pPr algn="ctr">
              <a:lnSpc>
                <a:spcPts val="4986"/>
              </a:lnSpc>
              <a:spcBef>
                <a:spcPct val="0"/>
              </a:spcBef>
            </a:pPr>
            <a:r>
              <a:rPr lang="en-US" sz="3561" spc="-71">
                <a:solidFill>
                  <a:srgbClr val="F0F0F0"/>
                </a:solidFill>
                <a:latin typeface="Anton"/>
                <a:ea typeface="Anton"/>
                <a:cs typeface="Anton"/>
                <a:sym typeface="Anton"/>
              </a:rPr>
              <a:t>FASE 2: PEMBERSIHAN DAN REKAYASA DATA</a:t>
            </a:r>
          </a:p>
          <a:p>
            <a:pPr algn="ctr">
              <a:lnSpc>
                <a:spcPts val="4986"/>
              </a:lnSpc>
              <a:spcBef>
                <a:spcPct val="0"/>
              </a:spcBef>
            </a:pPr>
          </a:p>
          <a:p>
            <a:pPr algn="l">
              <a:lnSpc>
                <a:spcPts val="4986"/>
              </a:lnSpc>
              <a:spcBef>
                <a:spcPct val="0"/>
              </a:spcBef>
            </a:pPr>
            <a:r>
              <a:rPr lang="en-US" sz="3561" spc="-71">
                <a:solidFill>
                  <a:srgbClr val="F0F0F0"/>
                </a:solidFill>
                <a:latin typeface="Open Sauce"/>
                <a:ea typeface="Open Sauce"/>
                <a:cs typeface="Open Sauce"/>
                <a:sym typeface="Open Sauce"/>
              </a:rPr>
              <a:t>Step 5: Target Label Creation</a:t>
            </a:r>
          </a:p>
          <a:p>
            <a:pPr algn="l">
              <a:lnSpc>
                <a:spcPts val="4986"/>
              </a:lnSpc>
              <a:spcBef>
                <a:spcPct val="0"/>
              </a:spcBef>
            </a:pPr>
            <a:r>
              <a:rPr lang="en-US" sz="3561" spc="-71">
                <a:solidFill>
                  <a:srgbClr val="F0F0F0"/>
                </a:solidFill>
                <a:latin typeface="Open Sauce"/>
                <a:ea typeface="Open Sauce"/>
                <a:cs typeface="Open Sauce"/>
                <a:sym typeface="Open Sauce"/>
              </a:rPr>
              <a:t>Target diklasifikasikan menjadi 4 kelas sesuai standar WHO (ZS TB/U):</a:t>
            </a:r>
          </a:p>
          <a:p>
            <a:pPr algn="l">
              <a:lnSpc>
                <a:spcPts val="4986"/>
              </a:lnSpc>
              <a:spcBef>
                <a:spcPct val="0"/>
              </a:spcBef>
            </a:pPr>
            <a:r>
              <a:rPr lang="en-US" sz="3561" spc="-71">
                <a:solidFill>
                  <a:srgbClr val="F0F0F0"/>
                </a:solidFill>
                <a:latin typeface="Open Sauce"/>
                <a:ea typeface="Open Sauce"/>
                <a:cs typeface="Open Sauce"/>
                <a:sym typeface="Open Sauce"/>
              </a:rPr>
              <a:t>Normal(≥ -1 SD)</a:t>
            </a:r>
          </a:p>
          <a:p>
            <a:pPr algn="l">
              <a:lnSpc>
                <a:spcPts val="4986"/>
              </a:lnSpc>
              <a:spcBef>
                <a:spcPct val="0"/>
              </a:spcBef>
            </a:pPr>
            <a:r>
              <a:rPr lang="en-US" sz="3561" spc="-71">
                <a:solidFill>
                  <a:srgbClr val="F0F0F0"/>
                </a:solidFill>
                <a:latin typeface="Open Sauce"/>
                <a:ea typeface="Open Sauce"/>
                <a:cs typeface="Open Sauce"/>
                <a:sym typeface="Open Sauce"/>
              </a:rPr>
              <a:t>Risiko Stunting Ringan(-2 SD ≤ ZS &lt; -1 SD)</a:t>
            </a:r>
          </a:p>
          <a:p>
            <a:pPr algn="l">
              <a:lnSpc>
                <a:spcPts val="4986"/>
              </a:lnSpc>
              <a:spcBef>
                <a:spcPct val="0"/>
              </a:spcBef>
            </a:pPr>
            <a:r>
              <a:rPr lang="en-US" sz="3561" spc="-71">
                <a:solidFill>
                  <a:srgbClr val="F0F0F0"/>
                </a:solidFill>
                <a:latin typeface="Open Sauce"/>
                <a:ea typeface="Open Sauce"/>
                <a:cs typeface="Open Sauce"/>
                <a:sym typeface="Open Sauce"/>
              </a:rPr>
              <a:t>Risiko Stunting Sedang(-3 SD ≤ ZS &lt; -2 SD)</a:t>
            </a:r>
          </a:p>
          <a:p>
            <a:pPr algn="l">
              <a:lnSpc>
                <a:spcPts val="4986"/>
              </a:lnSpc>
              <a:spcBef>
                <a:spcPct val="0"/>
              </a:spcBef>
            </a:pPr>
            <a:r>
              <a:rPr lang="en-US" sz="3561" spc="-71">
                <a:solidFill>
                  <a:srgbClr val="F0F0F0"/>
                </a:solidFill>
                <a:latin typeface="Open Sauce"/>
                <a:ea typeface="Open Sauce"/>
                <a:cs typeface="Open Sauce"/>
                <a:sym typeface="Open Sauce"/>
              </a:rPr>
              <a:t>Risiko Stunting Tinggi(&lt; -3 SD)</a:t>
            </a:r>
          </a:p>
          <a:p>
            <a:pPr algn="l">
              <a:lnSpc>
                <a:spcPts val="4986"/>
              </a:lnSpc>
              <a:spcBef>
                <a:spcPct val="0"/>
              </a:spcBef>
            </a:pPr>
            <a:r>
              <a:rPr lang="en-US" sz="3561" spc="-71">
                <a:solidFill>
                  <a:srgbClr val="F0F0F0"/>
                </a:solidFill>
                <a:latin typeface="Open Sauce"/>
                <a:ea typeface="Open Sauce"/>
                <a:cs typeface="Open Sauce"/>
                <a:sym typeface="Open Sauce"/>
              </a:rPr>
              <a:t>Step 6: Feature Engineering</a:t>
            </a:r>
          </a:p>
          <a:p>
            <a:pPr algn="l">
              <a:lnSpc>
                <a:spcPts val="4986"/>
              </a:lnSpc>
              <a:spcBef>
                <a:spcPct val="0"/>
              </a:spcBef>
            </a:pPr>
            <a:r>
              <a:rPr lang="en-US" sz="3561" spc="-71">
                <a:solidFill>
                  <a:srgbClr val="F0F0F0"/>
                </a:solidFill>
                <a:latin typeface="Open Sauce"/>
                <a:ea typeface="Open Sauce"/>
                <a:cs typeface="Open Sauce"/>
                <a:sym typeface="Open Sauce"/>
              </a:rPr>
              <a:t>Ekstraksi fitur baru untuk memperkaya informasi pemodelan</a:t>
            </a:r>
          </a:p>
          <a:p>
            <a:pPr algn="l">
              <a:lnSpc>
                <a:spcPts val="4986"/>
              </a:lnSpc>
              <a:spcBef>
                <a:spcPct val="0"/>
              </a:spcBef>
            </a:pPr>
            <a:r>
              <a:rPr lang="en-US" sz="3561" spc="-71">
                <a:solidFill>
                  <a:srgbClr val="F0F0F0"/>
                </a:solidFill>
                <a:latin typeface="Open Sauce"/>
                <a:ea typeface="Open Sauce"/>
                <a:cs typeface="Open Sauce"/>
                <a:sym typeface="Open Sauce"/>
              </a:rPr>
              <a:t>kalkulasi Body Mass Index(BMI)</a:t>
            </a:r>
          </a:p>
          <a:p>
            <a:pPr algn="l">
              <a:lnSpc>
                <a:spcPts val="4986"/>
              </a:lnSpc>
              <a:spcBef>
                <a:spcPct val="0"/>
              </a:spcBef>
            </a:pPr>
            <a:r>
              <a:rPr lang="en-US" sz="3561" spc="-71">
                <a:solidFill>
                  <a:srgbClr val="F0F0F0"/>
                </a:solidFill>
                <a:latin typeface="Open Sauce"/>
                <a:ea typeface="Open Sauce"/>
                <a:cs typeface="Open Sauce"/>
                <a:sym typeface="Open Sauce"/>
              </a:rPr>
              <a:t>Growth Velocity(kecepatan tumbuh berat dan tinggi per bulan)</a:t>
            </a:r>
          </a:p>
          <a:p>
            <a:pPr algn="l">
              <a:lnSpc>
                <a:spcPts val="4986"/>
              </a:lnSpc>
              <a:spcBef>
                <a:spcPct val="0"/>
              </a:spcBef>
            </a:pPr>
            <a:r>
              <a:rPr lang="en-US" sz="3561" spc="-71">
                <a:solidFill>
                  <a:srgbClr val="F0F0F0"/>
                </a:solidFill>
                <a:latin typeface="Open Sauce"/>
                <a:ea typeface="Open Sauce"/>
                <a:cs typeface="Open Sauce"/>
                <a:sym typeface="Open Sauce"/>
              </a:rPr>
              <a:t>encoding ntuk Jenis Kelamin (JK)</a:t>
            </a:r>
          </a:p>
          <a:p>
            <a:pPr algn="l">
              <a:lnSpc>
                <a:spcPts val="4986"/>
              </a:lnSpc>
              <a:spcBef>
                <a:spcPct val="0"/>
              </a:spcBef>
            </a:pPr>
            <a:r>
              <a:rPr lang="en-US" sz="3561" spc="-71">
                <a:solidFill>
                  <a:srgbClr val="F0F0F0"/>
                </a:solidFill>
                <a:latin typeface="Open Sauce"/>
                <a:ea typeface="Open Sauce"/>
                <a:cs typeface="Open Sauce"/>
                <a:sym typeface="Open Sauce"/>
              </a:rPr>
              <a:t>status Naik Berat Badan</a:t>
            </a:r>
          </a:p>
          <a:p>
            <a:pPr algn="l">
              <a:lnSpc>
                <a:spcPts val="4986"/>
              </a:lnSpc>
              <a:spcBef>
                <a:spcPct val="0"/>
              </a:spcBef>
            </a:pPr>
            <a:r>
              <a:rPr lang="en-US" sz="3561" spc="-71">
                <a:solidFill>
                  <a:srgbClr val="F0F0F0"/>
                </a:solidFill>
                <a:latin typeface="Open Sauce"/>
                <a:ea typeface="Open Sauce"/>
                <a:cs typeface="Open Sauce"/>
                <a:sym typeface="Open Sauce"/>
              </a:rPr>
              <a:t>Cara Ukur.</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1704198" y="2684845"/>
            <a:ext cx="15555102" cy="3745760"/>
          </a:xfrm>
          <a:prstGeom prst="rect">
            <a:avLst/>
          </a:prstGeom>
        </p:spPr>
        <p:txBody>
          <a:bodyPr anchor="t" rtlCol="false" tIns="0" lIns="0" bIns="0" rIns="0">
            <a:spAutoFit/>
          </a:bodyPr>
          <a:lstStyle/>
          <a:p>
            <a:pPr algn="ctr">
              <a:lnSpc>
                <a:spcPts val="4986"/>
              </a:lnSpc>
              <a:spcBef>
                <a:spcPct val="0"/>
              </a:spcBef>
            </a:pPr>
            <a:r>
              <a:rPr lang="en-US" sz="3561" spc="-71">
                <a:solidFill>
                  <a:srgbClr val="F0F0F0"/>
                </a:solidFill>
                <a:latin typeface="Anton"/>
                <a:ea typeface="Anton"/>
                <a:cs typeface="Anton"/>
                <a:sym typeface="Anton"/>
              </a:rPr>
              <a:t>FASE 2: PEMBERSIHAN DAN REKAYASA DATA</a:t>
            </a:r>
          </a:p>
          <a:p>
            <a:pPr algn="ctr">
              <a:lnSpc>
                <a:spcPts val="4986"/>
              </a:lnSpc>
              <a:spcBef>
                <a:spcPct val="0"/>
              </a:spcBef>
            </a:pPr>
          </a:p>
          <a:p>
            <a:pPr algn="l">
              <a:lnSpc>
                <a:spcPts val="4986"/>
              </a:lnSpc>
              <a:spcBef>
                <a:spcPct val="0"/>
              </a:spcBef>
            </a:pPr>
            <a:r>
              <a:rPr lang="en-US" sz="3561" spc="-71">
                <a:solidFill>
                  <a:srgbClr val="F0F0F0"/>
                </a:solidFill>
                <a:latin typeface="Open Sauce"/>
                <a:ea typeface="Open Sauce"/>
                <a:cs typeface="Open Sauce"/>
                <a:sym typeface="Open Sauce"/>
              </a:rPr>
              <a:t>Step 7: Feature Filtering</a:t>
            </a:r>
          </a:p>
          <a:p>
            <a:pPr algn="l">
              <a:lnSpc>
                <a:spcPts val="4986"/>
              </a:lnSpc>
              <a:spcBef>
                <a:spcPct val="0"/>
              </a:spcBef>
            </a:pPr>
            <a:r>
              <a:rPr lang="en-US" sz="3561" spc="-71">
                <a:solidFill>
                  <a:srgbClr val="F0F0F0"/>
                </a:solidFill>
                <a:latin typeface="Open Sauce"/>
                <a:ea typeface="Open Sauce"/>
                <a:cs typeface="Open Sauce"/>
                <a:sym typeface="Open Sauce"/>
              </a:rPr>
              <a:t>Penghapusan lebih dari 20 kolom yang tidak relevan (data administratif dan identitas) serta kolom yang menyebabkan kebocoran data (data leakage), seperti ZS TB/U dan label status gizi lainnya.</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837694" y="2053742"/>
            <a:ext cx="8306306" cy="7962900"/>
          </a:xfrm>
          <a:prstGeom prst="rect">
            <a:avLst/>
          </a:prstGeom>
        </p:spPr>
        <p:txBody>
          <a:bodyPr anchor="t" rtlCol="false" tIns="0" lIns="0" bIns="0" rIns="0">
            <a:spAutoFit/>
          </a:bodyPr>
          <a:lstStyle/>
          <a:p>
            <a:pPr algn="l">
              <a:lnSpc>
                <a:spcPts val="2879"/>
              </a:lnSpc>
            </a:pPr>
          </a:p>
          <a:p>
            <a:pPr algn="l">
              <a:lnSpc>
                <a:spcPts val="2879"/>
              </a:lnSpc>
            </a:pPr>
            <a:r>
              <a:rPr lang="en-US" sz="2400" spc="-48">
                <a:solidFill>
                  <a:srgbClr val="F0F0F0"/>
                </a:solidFill>
                <a:latin typeface="Open Sauce"/>
                <a:ea typeface="Open Sauce"/>
                <a:cs typeface="Open Sauce"/>
                <a:sym typeface="Open Sauce"/>
              </a:rPr>
              <a:t>Step 8: Exploratory Data Analysis (EDA)</a:t>
            </a:r>
          </a:p>
          <a:p>
            <a:pPr algn="l">
              <a:lnSpc>
                <a:spcPts val="2879"/>
              </a:lnSpc>
            </a:pPr>
            <a:r>
              <a:rPr lang="en-US" sz="2400" spc="-48">
                <a:solidFill>
                  <a:srgbClr val="F0F0F0"/>
                </a:solidFill>
                <a:latin typeface="Open Sauce"/>
                <a:ea typeface="Open Sauce"/>
                <a:cs typeface="Open Sauce"/>
                <a:sym typeface="Open Sauce"/>
              </a:rPr>
              <a:t>Eksplorasi visual meliputi </a:t>
            </a:r>
          </a:p>
          <a:p>
            <a:pPr algn="l">
              <a:lnSpc>
                <a:spcPts val="2879"/>
              </a:lnSpc>
            </a:pPr>
            <a:r>
              <a:rPr lang="en-US" sz="2400" spc="-48">
                <a:solidFill>
                  <a:srgbClr val="F0F0F0"/>
                </a:solidFill>
                <a:latin typeface="Open Sauce"/>
                <a:ea typeface="Open Sauce"/>
                <a:cs typeface="Open Sauce"/>
                <a:sym typeface="Open Sauce"/>
              </a:rPr>
              <a:t>kurva kepadatan (KDE) per kelas target</a:t>
            </a:r>
          </a:p>
          <a:p>
            <a:pPr algn="l">
              <a:lnSpc>
                <a:spcPts val="2879"/>
              </a:lnSpc>
            </a:pPr>
            <a:r>
              <a:rPr lang="en-US" sz="2400" spc="-48">
                <a:solidFill>
                  <a:srgbClr val="F0F0F0"/>
                </a:solidFill>
                <a:latin typeface="Open Sauce"/>
                <a:ea typeface="Open Sauce"/>
                <a:cs typeface="Open Sauce"/>
                <a:sym typeface="Open Sauce"/>
              </a:rPr>
              <a:t>boxplot antropometri utama</a:t>
            </a:r>
          </a:p>
          <a:p>
            <a:pPr algn="l">
              <a:lnSpc>
                <a:spcPts val="2879"/>
              </a:lnSpc>
            </a:pPr>
            <a:r>
              <a:rPr lang="en-US" sz="2400" spc="-48">
                <a:solidFill>
                  <a:srgbClr val="F0F0F0"/>
                </a:solidFill>
                <a:latin typeface="Open Sauce"/>
                <a:ea typeface="Open Sauce"/>
                <a:cs typeface="Open Sauce"/>
                <a:sym typeface="Open Sauce"/>
              </a:rPr>
              <a:t>heatmap korelasi antar-fitur vs target</a:t>
            </a:r>
          </a:p>
          <a:p>
            <a:pPr algn="l">
              <a:lnSpc>
                <a:spcPts val="2879"/>
              </a:lnSpc>
            </a:pPr>
            <a:r>
              <a:rPr lang="en-US" sz="2400" spc="-48">
                <a:solidFill>
                  <a:srgbClr val="F0F0F0"/>
                </a:solidFill>
                <a:latin typeface="Open Sauce"/>
                <a:ea typeface="Open Sauce"/>
                <a:cs typeface="Open Sauce"/>
                <a:sym typeface="Open Sauce"/>
              </a:rPr>
              <a:t>scatter plot untuk melihat sebaran tinggi dan berat badan terhadap usia balita.</a:t>
            </a:r>
          </a:p>
          <a:p>
            <a:pPr algn="l">
              <a:lnSpc>
                <a:spcPts val="2879"/>
              </a:lnSpc>
            </a:pPr>
          </a:p>
          <a:p>
            <a:pPr algn="l">
              <a:lnSpc>
                <a:spcPts val="2879"/>
              </a:lnSpc>
            </a:pPr>
            <a:r>
              <a:rPr lang="en-US" sz="2400" spc="-48">
                <a:solidFill>
                  <a:srgbClr val="F0F0F0"/>
                </a:solidFill>
                <a:latin typeface="Open Sauce"/>
                <a:ea typeface="Open Sauce"/>
                <a:cs typeface="Open Sauce"/>
                <a:sym typeface="Open Sauce"/>
              </a:rPr>
              <a:t>Step 9: Train-Test Split</a:t>
            </a:r>
          </a:p>
          <a:p>
            <a:pPr algn="l">
              <a:lnSpc>
                <a:spcPts val="2879"/>
              </a:lnSpc>
            </a:pPr>
            <a:r>
              <a:rPr lang="en-US" sz="2400" spc="-48">
                <a:solidFill>
                  <a:srgbClr val="F0F0F0"/>
                </a:solidFill>
                <a:latin typeface="Open Sauce"/>
                <a:ea typeface="Open Sauce"/>
                <a:cs typeface="Open Sauce"/>
                <a:sym typeface="Open Sauce"/>
              </a:rPr>
              <a:t>Pembagian dataset menggunakan rasio 80% data latih (training) dan 20% data uji (testing) dengan metode stratified agar proporsi kelas target tetap terjaga konsisten di kedua himpunan data.</a:t>
            </a:r>
          </a:p>
          <a:p>
            <a:pPr algn="l">
              <a:lnSpc>
                <a:spcPts val="2879"/>
              </a:lnSpc>
            </a:pPr>
          </a:p>
          <a:p>
            <a:pPr algn="l">
              <a:lnSpc>
                <a:spcPts val="2879"/>
              </a:lnSpc>
            </a:pPr>
            <a:r>
              <a:rPr lang="en-US" sz="2400" spc="-48">
                <a:solidFill>
                  <a:srgbClr val="F0F0F0"/>
                </a:solidFill>
                <a:latin typeface="Open Sauce"/>
                <a:ea typeface="Open Sauce"/>
                <a:cs typeface="Open Sauce"/>
                <a:sym typeface="Open Sauce"/>
              </a:rPr>
              <a:t>Step 10: Preprocessing</a:t>
            </a:r>
          </a:p>
          <a:p>
            <a:pPr algn="l">
              <a:lnSpc>
                <a:spcPts val="2879"/>
              </a:lnSpc>
            </a:pPr>
            <a:r>
              <a:rPr lang="en-US" sz="2400" spc="-48">
                <a:solidFill>
                  <a:srgbClr val="F0F0F0"/>
                </a:solidFill>
                <a:latin typeface="Open Sauce"/>
                <a:ea typeface="Open Sauce"/>
                <a:cs typeface="Open Sauce"/>
                <a:sym typeface="Open Sauce"/>
              </a:rPr>
              <a:t>Penerapan LabelEncoder untuk mengubah target menjadi nilai numerik dan StandardScaler untuk normalisasi skala fitur (di-fit secara eksklusif pada data latih guna menghindari data leakage).</a:t>
            </a:r>
          </a:p>
          <a:p>
            <a:pPr algn="l">
              <a:lnSpc>
                <a:spcPts val="2879"/>
              </a:lnSpc>
            </a:pPr>
          </a:p>
          <a:p>
            <a:pPr algn="l">
              <a:lnSpc>
                <a:spcPts val="2879"/>
              </a:lnSpc>
            </a:pPr>
          </a:p>
        </p:txBody>
      </p:sp>
      <p:sp>
        <p:nvSpPr>
          <p:cNvPr name="TextBox 3" id="3"/>
          <p:cNvSpPr txBox="true"/>
          <p:nvPr/>
        </p:nvSpPr>
        <p:spPr>
          <a:xfrm rot="0">
            <a:off x="2669425" y="879973"/>
            <a:ext cx="15151141" cy="856615"/>
          </a:xfrm>
          <a:prstGeom prst="rect">
            <a:avLst/>
          </a:prstGeom>
        </p:spPr>
        <p:txBody>
          <a:bodyPr anchor="t" rtlCol="false" tIns="0" lIns="0" bIns="0" rIns="0">
            <a:spAutoFit/>
          </a:bodyPr>
          <a:lstStyle/>
          <a:p>
            <a:pPr algn="l" marL="0" indent="0" lvl="0">
              <a:lnSpc>
                <a:spcPts val="6304"/>
              </a:lnSpc>
              <a:spcBef>
                <a:spcPct val="0"/>
              </a:spcBef>
            </a:pPr>
            <a:r>
              <a:rPr lang="en-US" sz="6499" spc="-129">
                <a:solidFill>
                  <a:srgbClr val="F0F0F0"/>
                </a:solidFill>
                <a:latin typeface="Anton"/>
                <a:ea typeface="Anton"/>
                <a:cs typeface="Anton"/>
                <a:sym typeface="Anton"/>
              </a:rPr>
              <a:t>FASE 3: ANALISIS VISUAL DAN PERSIAPAN FITUR</a:t>
            </a:r>
          </a:p>
        </p:txBody>
      </p:sp>
      <p:sp>
        <p:nvSpPr>
          <p:cNvPr name="TextBox 4" id="4"/>
          <p:cNvSpPr txBox="true"/>
          <p:nvPr/>
        </p:nvSpPr>
        <p:spPr>
          <a:xfrm rot="0">
            <a:off x="10197893" y="2334636"/>
            <a:ext cx="7061407" cy="7111365"/>
          </a:xfrm>
          <a:prstGeom prst="rect">
            <a:avLst/>
          </a:prstGeom>
        </p:spPr>
        <p:txBody>
          <a:bodyPr anchor="t" rtlCol="false" tIns="0" lIns="0" bIns="0" rIns="0">
            <a:spAutoFit/>
          </a:bodyPr>
          <a:lstStyle/>
          <a:p>
            <a:pPr algn="l">
              <a:lnSpc>
                <a:spcPts val="3359"/>
              </a:lnSpc>
              <a:spcBef>
                <a:spcPct val="0"/>
              </a:spcBef>
            </a:pPr>
            <a:r>
              <a:rPr lang="en-US" sz="2400" spc="-48">
                <a:solidFill>
                  <a:srgbClr val="F0F0F0"/>
                </a:solidFill>
                <a:latin typeface="Open Sauce"/>
                <a:ea typeface="Open Sauce"/>
                <a:cs typeface="Open Sauce"/>
                <a:sym typeface="Open Sauce"/>
              </a:rPr>
              <a:t>Step 11: Feature Selection</a:t>
            </a:r>
          </a:p>
          <a:p>
            <a:pPr algn="l">
              <a:lnSpc>
                <a:spcPts val="3359"/>
              </a:lnSpc>
              <a:spcBef>
                <a:spcPct val="0"/>
              </a:spcBef>
            </a:pPr>
            <a:r>
              <a:rPr lang="en-US" sz="2400" spc="-48">
                <a:solidFill>
                  <a:srgbClr val="F0F0F0"/>
                </a:solidFill>
                <a:latin typeface="Open Sauce"/>
                <a:ea typeface="Open Sauce"/>
                <a:cs typeface="Open Sauce"/>
                <a:sym typeface="Open Sauce"/>
              </a:rPr>
              <a:t>Pemilihan fitur secara obyektif menggunakan Mutual Information(MI) dan Random Forest Feature Importance. Hanya fitur dengan nilai MI ≥ 0.005 yang lolos seleksi (dengan jaminan batas minimal 5 fitur utama).</a:t>
            </a:r>
          </a:p>
          <a:p>
            <a:pPr algn="l">
              <a:lnSpc>
                <a:spcPts val="3359"/>
              </a:lnSpc>
              <a:spcBef>
                <a:spcPct val="0"/>
              </a:spcBef>
            </a:pPr>
          </a:p>
          <a:p>
            <a:pPr algn="l">
              <a:lnSpc>
                <a:spcPts val="3359"/>
              </a:lnSpc>
              <a:spcBef>
                <a:spcPct val="0"/>
              </a:spcBef>
            </a:pPr>
            <a:r>
              <a:rPr lang="en-US" sz="2400" spc="-48">
                <a:solidFill>
                  <a:srgbClr val="F0F0F0"/>
                </a:solidFill>
                <a:latin typeface="Open Sauce"/>
                <a:ea typeface="Open Sauce"/>
                <a:cs typeface="Open Sauce"/>
                <a:sym typeface="Open Sauce"/>
              </a:rPr>
              <a:t>Step 12: SMOTE (Penanganan Data Tidak Seimbang)</a:t>
            </a:r>
          </a:p>
          <a:p>
            <a:pPr algn="l">
              <a:lnSpc>
                <a:spcPts val="3359"/>
              </a:lnSpc>
              <a:spcBef>
                <a:spcPct val="0"/>
              </a:spcBef>
            </a:pPr>
            <a:r>
              <a:rPr lang="en-US" sz="2400" spc="-48">
                <a:solidFill>
                  <a:srgbClr val="F0F0F0"/>
                </a:solidFill>
                <a:latin typeface="Open Sauce"/>
                <a:ea typeface="Open Sauce"/>
                <a:cs typeface="Open Sauce"/>
                <a:sym typeface="Open Sauce"/>
              </a:rPr>
              <a:t>Menerapkan Synthetic Minority Oversampling Technique khusus pada data latih.</a:t>
            </a:r>
          </a:p>
          <a:p>
            <a:pPr algn="l">
              <a:lnSpc>
                <a:spcPts val="3359"/>
              </a:lnSpc>
              <a:spcBef>
                <a:spcPct val="0"/>
              </a:spcBef>
            </a:pPr>
            <a:r>
              <a:rPr lang="en-US" sz="2400" spc="-48">
                <a:solidFill>
                  <a:srgbClr val="F0F0F0"/>
                </a:solidFill>
                <a:latin typeface="Open Sauce"/>
                <a:ea typeface="Open Sauce"/>
                <a:cs typeface="Open Sauce"/>
                <a:sym typeface="Open Sauce"/>
              </a:rPr>
              <a:t>Strategi penyampelan disesuaikan secara dinamis</a:t>
            </a:r>
          </a:p>
          <a:p>
            <a:pPr algn="l">
              <a:lnSpc>
                <a:spcPts val="3359"/>
              </a:lnSpc>
              <a:spcBef>
                <a:spcPct val="0"/>
              </a:spcBef>
            </a:pPr>
            <a:r>
              <a:rPr lang="en-US" sz="2400" spc="-48">
                <a:solidFill>
                  <a:srgbClr val="F0F0F0"/>
                </a:solidFill>
                <a:latin typeface="Open Sauce"/>
                <a:ea typeface="Open Sauce"/>
                <a:cs typeface="Open Sauce"/>
                <a:sym typeface="Open Sauce"/>
              </a:rPr>
              <a:t>mengatur jumlah kelas minoritas hingga mencapai setidaknya 10% dari populasi kelas mayoritas dengan penyesuaian parameter k_neighbors yang aman.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398106" y="1532024"/>
            <a:ext cx="7219567" cy="9180830"/>
          </a:xfrm>
          <a:prstGeom prst="rect">
            <a:avLst/>
          </a:prstGeom>
        </p:spPr>
        <p:txBody>
          <a:bodyPr anchor="t" rtlCol="false" tIns="0" lIns="0" bIns="0" rIns="0">
            <a:spAutoFit/>
          </a:bodyPr>
          <a:lstStyle/>
          <a:p>
            <a:pPr algn="l">
              <a:lnSpc>
                <a:spcPts val="3220"/>
              </a:lnSpc>
              <a:spcBef>
                <a:spcPct val="0"/>
              </a:spcBef>
            </a:pPr>
          </a:p>
          <a:p>
            <a:pPr algn="l">
              <a:lnSpc>
                <a:spcPts val="3220"/>
              </a:lnSpc>
              <a:spcBef>
                <a:spcPct val="0"/>
              </a:spcBef>
            </a:pPr>
            <a:r>
              <a:rPr lang="en-US" sz="2300" spc="-46">
                <a:solidFill>
                  <a:srgbClr val="F0F0F0"/>
                </a:solidFill>
                <a:latin typeface="Open Sauce"/>
                <a:ea typeface="Open Sauce"/>
                <a:cs typeface="Open Sauce"/>
                <a:sym typeface="Open Sauce"/>
              </a:rPr>
              <a:t>Step 13: Baseline Model</a:t>
            </a:r>
          </a:p>
          <a:p>
            <a:pPr algn="l">
              <a:lnSpc>
                <a:spcPts val="3220"/>
              </a:lnSpc>
              <a:spcBef>
                <a:spcPct val="0"/>
              </a:spcBef>
            </a:pPr>
            <a:r>
              <a:rPr lang="en-US" sz="2300" spc="-46">
                <a:solidFill>
                  <a:srgbClr val="F0F0F0"/>
                </a:solidFill>
                <a:latin typeface="Open Sauce"/>
                <a:ea typeface="Open Sauce"/>
                <a:cs typeface="Open Sauce"/>
                <a:sym typeface="Open Sauce"/>
              </a:rPr>
              <a:t>Evaluasi awal (cross-validation 5-fold) menggunakan Logistic Regression dan Decision Tree sebagai tolok ukur dasar menggunakan metrik Macro F1 Score.</a:t>
            </a:r>
          </a:p>
          <a:p>
            <a:pPr algn="l">
              <a:lnSpc>
                <a:spcPts val="3220"/>
              </a:lnSpc>
              <a:spcBef>
                <a:spcPct val="0"/>
              </a:spcBef>
            </a:pPr>
          </a:p>
          <a:p>
            <a:pPr algn="l">
              <a:lnSpc>
                <a:spcPts val="3220"/>
              </a:lnSpc>
              <a:spcBef>
                <a:spcPct val="0"/>
              </a:spcBef>
            </a:pPr>
            <a:r>
              <a:rPr lang="en-US" sz="2300" spc="-46">
                <a:solidFill>
                  <a:srgbClr val="F0F0F0"/>
                </a:solidFill>
                <a:latin typeface="Open Sauce"/>
                <a:ea typeface="Open Sauce"/>
                <a:cs typeface="Open Sauce"/>
                <a:sym typeface="Open Sauce"/>
              </a:rPr>
              <a:t>Step 14: Model Comparison</a:t>
            </a:r>
          </a:p>
          <a:p>
            <a:pPr algn="l">
              <a:lnSpc>
                <a:spcPts val="3220"/>
              </a:lnSpc>
              <a:spcBef>
                <a:spcPct val="0"/>
              </a:spcBef>
            </a:pPr>
            <a:r>
              <a:rPr lang="en-US" sz="2300" spc="-46">
                <a:solidFill>
                  <a:srgbClr val="F0F0F0"/>
                </a:solidFill>
                <a:latin typeface="Open Sauce"/>
                <a:ea typeface="Open Sauce"/>
                <a:cs typeface="Open Sauce"/>
                <a:sym typeface="Open Sauce"/>
              </a:rPr>
              <a:t>Membandingkan algoritma ansambel modern: Random Forest, Extra Trees, Gradient Boosting, XGBoost, dan LightGBM. Hasil diranking secara visual berdasarkan nilai rata-rata Macro F1.</a:t>
            </a:r>
          </a:p>
          <a:p>
            <a:pPr algn="l">
              <a:lnSpc>
                <a:spcPts val="3220"/>
              </a:lnSpc>
              <a:spcBef>
                <a:spcPct val="0"/>
              </a:spcBef>
            </a:pPr>
          </a:p>
          <a:p>
            <a:pPr algn="l">
              <a:lnSpc>
                <a:spcPts val="3220"/>
              </a:lnSpc>
              <a:spcBef>
                <a:spcPct val="0"/>
              </a:spcBef>
            </a:pPr>
            <a:r>
              <a:rPr lang="en-US" sz="2300" spc="-46">
                <a:solidFill>
                  <a:srgbClr val="F0F0F0"/>
                </a:solidFill>
                <a:latin typeface="Open Sauce"/>
                <a:ea typeface="Open Sauce"/>
                <a:cs typeface="Open Sauce"/>
                <a:sym typeface="Open Sauce"/>
              </a:rPr>
              <a:t>Step 15: Initial Evaluation</a:t>
            </a:r>
          </a:p>
          <a:p>
            <a:pPr algn="l">
              <a:lnSpc>
                <a:spcPts val="3220"/>
              </a:lnSpc>
              <a:spcBef>
                <a:spcPct val="0"/>
              </a:spcBef>
            </a:pPr>
            <a:r>
              <a:rPr lang="en-US" sz="2300" spc="-46">
                <a:solidFill>
                  <a:srgbClr val="F0F0F0"/>
                </a:solidFill>
                <a:latin typeface="Open Sauce"/>
                <a:ea typeface="Open Sauce"/>
                <a:cs typeface="Open Sauce"/>
                <a:sym typeface="Open Sauce"/>
              </a:rPr>
              <a:t>Evaluasi model terbaik pada data uji (test set), ditinjau melalui metrik </a:t>
            </a:r>
          </a:p>
          <a:p>
            <a:pPr algn="l">
              <a:lnSpc>
                <a:spcPts val="3220"/>
              </a:lnSpc>
              <a:spcBef>
                <a:spcPct val="0"/>
              </a:spcBef>
            </a:pPr>
            <a:r>
              <a:rPr lang="en-US" sz="2300" spc="-46">
                <a:solidFill>
                  <a:srgbClr val="F0F0F0"/>
                </a:solidFill>
                <a:latin typeface="Open Sauce"/>
                <a:ea typeface="Open Sauce"/>
                <a:cs typeface="Open Sauce"/>
                <a:sym typeface="Open Sauce"/>
              </a:rPr>
              <a:t>akurasi</a:t>
            </a:r>
          </a:p>
          <a:p>
            <a:pPr algn="l">
              <a:lnSpc>
                <a:spcPts val="3220"/>
              </a:lnSpc>
              <a:spcBef>
                <a:spcPct val="0"/>
              </a:spcBef>
            </a:pPr>
            <a:r>
              <a:rPr lang="en-US" sz="2300" spc="-46">
                <a:solidFill>
                  <a:srgbClr val="F0F0F0"/>
                </a:solidFill>
                <a:latin typeface="Open Sauce"/>
                <a:ea typeface="Open Sauce"/>
                <a:cs typeface="Open Sauce"/>
                <a:sym typeface="Open Sauce"/>
              </a:rPr>
              <a:t> balanced accuracy</a:t>
            </a:r>
          </a:p>
          <a:p>
            <a:pPr algn="l">
              <a:lnSpc>
                <a:spcPts val="3220"/>
              </a:lnSpc>
              <a:spcBef>
                <a:spcPct val="0"/>
              </a:spcBef>
            </a:pPr>
            <a:r>
              <a:rPr lang="en-US" sz="2300" spc="-46">
                <a:solidFill>
                  <a:srgbClr val="F0F0F0"/>
                </a:solidFill>
                <a:latin typeface="Open Sauce"/>
                <a:ea typeface="Open Sauce"/>
                <a:cs typeface="Open Sauce"/>
                <a:sym typeface="Open Sauce"/>
              </a:rPr>
              <a:t> F1-score</a:t>
            </a:r>
          </a:p>
          <a:p>
            <a:pPr algn="l">
              <a:lnSpc>
                <a:spcPts val="3220"/>
              </a:lnSpc>
              <a:spcBef>
                <a:spcPct val="0"/>
              </a:spcBef>
            </a:pPr>
            <a:r>
              <a:rPr lang="en-US" sz="2300" spc="-46">
                <a:solidFill>
                  <a:srgbClr val="F0F0F0"/>
                </a:solidFill>
                <a:latin typeface="Open Sauce"/>
                <a:ea typeface="Open Sauce"/>
                <a:cs typeface="Open Sauce"/>
                <a:sym typeface="Open Sauce"/>
              </a:rPr>
              <a:t>Confusion Matrix</a:t>
            </a:r>
          </a:p>
          <a:p>
            <a:pPr algn="l">
              <a:lnSpc>
                <a:spcPts val="3220"/>
              </a:lnSpc>
              <a:spcBef>
                <a:spcPct val="0"/>
              </a:spcBef>
            </a:pPr>
            <a:r>
              <a:rPr lang="en-US" sz="2300" spc="-46">
                <a:solidFill>
                  <a:srgbClr val="F0F0F0"/>
                </a:solidFill>
                <a:latin typeface="Open Sauce"/>
                <a:ea typeface="Open Sauce"/>
                <a:cs typeface="Open Sauce"/>
                <a:sym typeface="Open Sauce"/>
              </a:rPr>
              <a:t>ROC Curve</a:t>
            </a:r>
          </a:p>
          <a:p>
            <a:pPr algn="l">
              <a:lnSpc>
                <a:spcPts val="3220"/>
              </a:lnSpc>
              <a:spcBef>
                <a:spcPct val="0"/>
              </a:spcBef>
            </a:pPr>
            <a:r>
              <a:rPr lang="en-US" sz="2300" spc="-46">
                <a:solidFill>
                  <a:srgbClr val="F0F0F0"/>
                </a:solidFill>
                <a:latin typeface="Open Sauce"/>
                <a:ea typeface="Open Sauce"/>
                <a:cs typeface="Open Sauce"/>
                <a:sym typeface="Open Sauce"/>
              </a:rPr>
              <a:t>laporan klasifikasi rinci per kelas.</a:t>
            </a:r>
          </a:p>
          <a:p>
            <a:pPr algn="l">
              <a:lnSpc>
                <a:spcPts val="3220"/>
              </a:lnSpc>
              <a:spcBef>
                <a:spcPct val="0"/>
              </a:spcBef>
            </a:pPr>
          </a:p>
          <a:p>
            <a:pPr algn="l">
              <a:lnSpc>
                <a:spcPts val="3220"/>
              </a:lnSpc>
              <a:spcBef>
                <a:spcPct val="0"/>
              </a:spcBef>
            </a:pPr>
          </a:p>
        </p:txBody>
      </p:sp>
      <p:sp>
        <p:nvSpPr>
          <p:cNvPr name="TextBox 3" id="3"/>
          <p:cNvSpPr txBox="true"/>
          <p:nvPr/>
        </p:nvSpPr>
        <p:spPr>
          <a:xfrm rot="0">
            <a:off x="9825259" y="2025676"/>
            <a:ext cx="7252498" cy="4780280"/>
          </a:xfrm>
          <a:prstGeom prst="rect">
            <a:avLst/>
          </a:prstGeom>
        </p:spPr>
        <p:txBody>
          <a:bodyPr anchor="t" rtlCol="false" tIns="0" lIns="0" bIns="0" rIns="0">
            <a:spAutoFit/>
          </a:bodyPr>
          <a:lstStyle/>
          <a:p>
            <a:pPr algn="l">
              <a:lnSpc>
                <a:spcPts val="3220"/>
              </a:lnSpc>
              <a:spcBef>
                <a:spcPct val="0"/>
              </a:spcBef>
            </a:pPr>
            <a:r>
              <a:rPr lang="en-US" sz="2300" spc="-46">
                <a:solidFill>
                  <a:srgbClr val="F0F0F0"/>
                </a:solidFill>
                <a:latin typeface="Open Sauce"/>
                <a:ea typeface="Open Sauce"/>
                <a:cs typeface="Open Sauce"/>
                <a:sym typeface="Open Sauce"/>
              </a:rPr>
              <a:t>Step 16: Hyperparameter Tuning</a:t>
            </a:r>
          </a:p>
          <a:p>
            <a:pPr algn="l">
              <a:lnSpc>
                <a:spcPts val="3220"/>
              </a:lnSpc>
              <a:spcBef>
                <a:spcPct val="0"/>
              </a:spcBef>
            </a:pPr>
            <a:r>
              <a:rPr lang="en-US" sz="2300" spc="-46">
                <a:solidFill>
                  <a:srgbClr val="F0F0F0"/>
                </a:solidFill>
                <a:latin typeface="Open Sauce"/>
                <a:ea typeface="Open Sauce"/>
                <a:cs typeface="Open Sauce"/>
                <a:sym typeface="Open Sauce"/>
              </a:rPr>
              <a:t>Optimasi parameter model terbaik menggunakan pendekatan Bayesian Optimization via Optuna selama 60 trials, memanfaatkan validasi silang untuk mencari konfigurasi parameter terbaik (learning rate, kedalaman pohon, subsample, dll).</a:t>
            </a:r>
          </a:p>
          <a:p>
            <a:pPr algn="l">
              <a:lnSpc>
                <a:spcPts val="3220"/>
              </a:lnSpc>
              <a:spcBef>
                <a:spcPct val="0"/>
              </a:spcBef>
            </a:pPr>
          </a:p>
          <a:p>
            <a:pPr algn="l">
              <a:lnSpc>
                <a:spcPts val="3220"/>
              </a:lnSpc>
              <a:spcBef>
                <a:spcPct val="0"/>
              </a:spcBef>
            </a:pPr>
            <a:r>
              <a:rPr lang="en-US" sz="2300" spc="-46">
                <a:solidFill>
                  <a:srgbClr val="F0F0F0"/>
                </a:solidFill>
                <a:latin typeface="Open Sauce"/>
                <a:ea typeface="Open Sauce"/>
                <a:cs typeface="Open Sauce"/>
                <a:sym typeface="Open Sauce"/>
              </a:rPr>
              <a:t>Step 17: Final Evaluation</a:t>
            </a:r>
          </a:p>
          <a:p>
            <a:pPr algn="l">
              <a:lnSpc>
                <a:spcPts val="3220"/>
              </a:lnSpc>
              <a:spcBef>
                <a:spcPct val="0"/>
              </a:spcBef>
            </a:pPr>
            <a:r>
              <a:rPr lang="en-US" sz="2300" spc="-46">
                <a:solidFill>
                  <a:srgbClr val="F0F0F0"/>
                </a:solidFill>
                <a:latin typeface="Open Sauce"/>
                <a:ea typeface="Open Sauce"/>
                <a:cs typeface="Open Sauce"/>
                <a:sym typeface="Open Sauce"/>
              </a:rPr>
              <a:t>Evaluasi akhir pada test set menggunakan model hasil tuning. Performa direkam melalui Confusion Matrix absolut dan ternormalisasi, serta metrik kurva ROC Multi-class(One-vs-Rest).</a:t>
            </a:r>
          </a:p>
        </p:txBody>
      </p:sp>
      <p:sp>
        <p:nvSpPr>
          <p:cNvPr name="TextBox 4" id="4"/>
          <p:cNvSpPr txBox="true"/>
          <p:nvPr/>
        </p:nvSpPr>
        <p:spPr>
          <a:xfrm rot="0">
            <a:off x="3962999" y="560825"/>
            <a:ext cx="10075366" cy="1111250"/>
          </a:xfrm>
          <a:prstGeom prst="rect">
            <a:avLst/>
          </a:prstGeom>
        </p:spPr>
        <p:txBody>
          <a:bodyPr anchor="t" rtlCol="false" tIns="0" lIns="0" bIns="0" rIns="0">
            <a:spAutoFit/>
          </a:bodyPr>
          <a:lstStyle/>
          <a:p>
            <a:pPr algn="ctr">
              <a:lnSpc>
                <a:spcPts val="9099"/>
              </a:lnSpc>
              <a:spcBef>
                <a:spcPct val="0"/>
              </a:spcBef>
            </a:pPr>
            <a:r>
              <a:rPr lang="en-US" sz="6499" spc="-129">
                <a:solidFill>
                  <a:srgbClr val="F0F0F0"/>
                </a:solidFill>
                <a:latin typeface="Anton"/>
                <a:ea typeface="Anton"/>
                <a:cs typeface="Anton"/>
                <a:sym typeface="Anton"/>
              </a:rPr>
              <a:t>FASE 4: PEMODELAN DAN OPTIMASI</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837694" y="2053742"/>
            <a:ext cx="8306306" cy="5067300"/>
          </a:xfrm>
          <a:prstGeom prst="rect">
            <a:avLst/>
          </a:prstGeom>
        </p:spPr>
        <p:txBody>
          <a:bodyPr anchor="t" rtlCol="false" tIns="0" lIns="0" bIns="0" rIns="0">
            <a:spAutoFit/>
          </a:bodyPr>
          <a:lstStyle/>
          <a:p>
            <a:pPr algn="l">
              <a:lnSpc>
                <a:spcPts val="2879"/>
              </a:lnSpc>
            </a:pPr>
            <a:r>
              <a:rPr lang="en-US" sz="2400" spc="-48">
                <a:solidFill>
                  <a:srgbClr val="F0F0F0"/>
                </a:solidFill>
                <a:latin typeface="Open Sauce"/>
                <a:ea typeface="Open Sauce"/>
                <a:cs typeface="Open Sauce"/>
                <a:sym typeface="Open Sauce"/>
              </a:rPr>
              <a:t>Step 18: Explainability</a:t>
            </a:r>
          </a:p>
          <a:p>
            <a:pPr algn="l">
              <a:lnSpc>
                <a:spcPts val="2879"/>
              </a:lnSpc>
            </a:pPr>
            <a:r>
              <a:rPr lang="en-US" sz="2400" spc="-48">
                <a:solidFill>
                  <a:srgbClr val="F0F0F0"/>
                </a:solidFill>
                <a:latin typeface="Open Sauce"/>
                <a:ea typeface="Open Sauce"/>
                <a:cs typeface="Open Sauce"/>
                <a:sym typeface="Open Sauce"/>
              </a:rPr>
              <a:t>Tran</a:t>
            </a:r>
            <a:r>
              <a:rPr lang="en-US" sz="2400" spc="-48">
                <a:solidFill>
                  <a:srgbClr val="F0F0F0"/>
                </a:solidFill>
                <a:latin typeface="Open Sauce"/>
                <a:ea typeface="Open Sauce"/>
                <a:cs typeface="Open Sauce"/>
                <a:sym typeface="Open Sauce"/>
              </a:rPr>
              <a:t>sparansi model dianalisis melalui visualisasi Feature Importance bawaan algoritma dan analisis SHAP (Shapley Additive Explanations) menggunakan TreeExplainer (atau KernelExplainer sebagai fallback) guna melihat seberapa besar setiap fitur memengaruhi prediksi akhir.</a:t>
            </a:r>
          </a:p>
          <a:p>
            <a:pPr algn="l">
              <a:lnSpc>
                <a:spcPts val="2879"/>
              </a:lnSpc>
            </a:pPr>
          </a:p>
          <a:p>
            <a:pPr algn="l">
              <a:lnSpc>
                <a:spcPts val="2879"/>
              </a:lnSpc>
            </a:pPr>
            <a:r>
              <a:rPr lang="en-US" sz="2400" spc="-48">
                <a:solidFill>
                  <a:srgbClr val="F0F0F0"/>
                </a:solidFill>
                <a:latin typeface="Open Sauce"/>
                <a:ea typeface="Open Sauce"/>
                <a:cs typeface="Open Sauce"/>
                <a:sym typeface="Open Sauce"/>
              </a:rPr>
              <a:t>Step 19: Model Saving</a:t>
            </a:r>
          </a:p>
          <a:p>
            <a:pPr algn="l">
              <a:lnSpc>
                <a:spcPts val="2879"/>
              </a:lnSpc>
            </a:pPr>
            <a:r>
              <a:rPr lang="en-US" sz="2400" spc="-48">
                <a:solidFill>
                  <a:srgbClr val="F0F0F0"/>
                </a:solidFill>
                <a:latin typeface="Open Sauce"/>
                <a:ea typeface="Open Sauce"/>
                <a:cs typeface="Open Sauce"/>
                <a:sym typeface="Open Sauce"/>
              </a:rPr>
              <a:t>Seluruh artefak pemod</a:t>
            </a:r>
            <a:r>
              <a:rPr lang="en-US" sz="2400" spc="-48">
                <a:solidFill>
                  <a:srgbClr val="F0F0F0"/>
                </a:solidFill>
                <a:latin typeface="Open Sauce"/>
                <a:ea typeface="Open Sauce"/>
                <a:cs typeface="Open Sauce"/>
                <a:sym typeface="Open Sauce"/>
              </a:rPr>
              <a:t>elan diekspor dan disimpan dalam direktori khusus (model_artifacts), meliputi:</a:t>
            </a:r>
          </a:p>
          <a:p>
            <a:pPr algn="l">
              <a:lnSpc>
                <a:spcPts val="2879"/>
              </a:lnSpc>
            </a:pPr>
            <a:r>
              <a:rPr lang="en-US" sz="2400" spc="-48">
                <a:solidFill>
                  <a:srgbClr val="F0F0F0"/>
                </a:solidFill>
                <a:latin typeface="Open Sauce"/>
                <a:ea typeface="Open Sauce"/>
                <a:cs typeface="Open Sauce"/>
                <a:sym typeface="Open Sauce"/>
              </a:rPr>
              <a:t>stunting_model.pkl` (Model Prediktif Akhir)</a:t>
            </a:r>
          </a:p>
          <a:p>
            <a:pPr algn="l">
              <a:lnSpc>
                <a:spcPts val="2879"/>
              </a:lnSpc>
            </a:pPr>
            <a:r>
              <a:rPr lang="en-US" sz="2400" spc="-48">
                <a:solidFill>
                  <a:srgbClr val="F0F0F0"/>
                </a:solidFill>
                <a:latin typeface="Open Sauce"/>
                <a:ea typeface="Open Sauce"/>
                <a:cs typeface="Open Sauce"/>
                <a:sym typeface="Open Sauce"/>
              </a:rPr>
              <a:t>scaler.pkl` (StandardScaler)</a:t>
            </a:r>
          </a:p>
          <a:p>
            <a:pPr algn="l">
              <a:lnSpc>
                <a:spcPts val="2879"/>
              </a:lnSpc>
            </a:pPr>
            <a:r>
              <a:rPr lang="en-US" sz="2400" spc="-48">
                <a:solidFill>
                  <a:srgbClr val="F0F0F0"/>
                </a:solidFill>
                <a:latin typeface="Open Sauce"/>
                <a:ea typeface="Open Sauce"/>
                <a:cs typeface="Open Sauce"/>
                <a:sym typeface="Open Sauce"/>
              </a:rPr>
              <a:t>label_encoder.pkl` (Pemetaan Target)</a:t>
            </a:r>
          </a:p>
          <a:p>
            <a:pPr algn="l">
              <a:lnSpc>
                <a:spcPts val="2879"/>
              </a:lnSpc>
            </a:pPr>
            <a:r>
              <a:rPr lang="en-US" sz="2400" spc="-48">
                <a:solidFill>
                  <a:srgbClr val="F0F0F0"/>
                </a:solidFill>
                <a:latin typeface="Open Sauce"/>
                <a:ea typeface="Open Sauce"/>
                <a:cs typeface="Open Sauce"/>
                <a:sym typeface="Open Sauce"/>
              </a:rPr>
              <a:t>metadata.json` (Konfigurasi dan Metrik Akhir)</a:t>
            </a:r>
          </a:p>
        </p:txBody>
      </p:sp>
      <p:sp>
        <p:nvSpPr>
          <p:cNvPr name="TextBox 3" id="3"/>
          <p:cNvSpPr txBox="true"/>
          <p:nvPr/>
        </p:nvSpPr>
        <p:spPr>
          <a:xfrm rot="0">
            <a:off x="1028700" y="879973"/>
            <a:ext cx="16791866" cy="856615"/>
          </a:xfrm>
          <a:prstGeom prst="rect">
            <a:avLst/>
          </a:prstGeom>
        </p:spPr>
        <p:txBody>
          <a:bodyPr anchor="t" rtlCol="false" tIns="0" lIns="0" bIns="0" rIns="0">
            <a:spAutoFit/>
          </a:bodyPr>
          <a:lstStyle/>
          <a:p>
            <a:pPr algn="l" marL="0" indent="0" lvl="0">
              <a:lnSpc>
                <a:spcPts val="6304"/>
              </a:lnSpc>
              <a:spcBef>
                <a:spcPct val="0"/>
              </a:spcBef>
            </a:pPr>
            <a:r>
              <a:rPr lang="en-US" sz="6499" spc="-129">
                <a:solidFill>
                  <a:srgbClr val="F0F0F0"/>
                </a:solidFill>
                <a:latin typeface="Anton"/>
                <a:ea typeface="Anton"/>
                <a:cs typeface="Anton"/>
                <a:sym typeface="Anton"/>
              </a:rPr>
              <a:t>FASE 5: INTERPRETASI DAN PENERAPAN (DEPLOYMENT)</a:t>
            </a:r>
          </a:p>
        </p:txBody>
      </p:sp>
      <p:sp>
        <p:nvSpPr>
          <p:cNvPr name="TextBox 4" id="4"/>
          <p:cNvSpPr txBox="true"/>
          <p:nvPr/>
        </p:nvSpPr>
        <p:spPr>
          <a:xfrm rot="0">
            <a:off x="10197893" y="2334636"/>
            <a:ext cx="7061407" cy="3758565"/>
          </a:xfrm>
          <a:prstGeom prst="rect">
            <a:avLst/>
          </a:prstGeom>
        </p:spPr>
        <p:txBody>
          <a:bodyPr anchor="t" rtlCol="false" tIns="0" lIns="0" bIns="0" rIns="0">
            <a:spAutoFit/>
          </a:bodyPr>
          <a:lstStyle/>
          <a:p>
            <a:pPr algn="l">
              <a:lnSpc>
                <a:spcPts val="3359"/>
              </a:lnSpc>
              <a:spcBef>
                <a:spcPct val="0"/>
              </a:spcBef>
            </a:pPr>
            <a:r>
              <a:rPr lang="en-US" sz="2400" spc="-48">
                <a:solidFill>
                  <a:srgbClr val="F0F0F0"/>
                </a:solidFill>
                <a:latin typeface="Open Sauce"/>
                <a:ea typeface="Open Sauce"/>
                <a:cs typeface="Open Sauce"/>
                <a:sym typeface="Open Sauce"/>
              </a:rPr>
              <a:t>Step 20: Deployment</a:t>
            </a:r>
          </a:p>
          <a:p>
            <a:pPr algn="l">
              <a:lnSpc>
                <a:spcPts val="3359"/>
              </a:lnSpc>
              <a:spcBef>
                <a:spcPct val="0"/>
              </a:spcBef>
            </a:pPr>
            <a:r>
              <a:rPr lang="en-US" sz="2400" spc="-48">
                <a:solidFill>
                  <a:srgbClr val="F0F0F0"/>
                </a:solidFill>
                <a:latin typeface="Open Sauce"/>
                <a:ea typeface="Open Sauce"/>
                <a:cs typeface="Open Sauce"/>
                <a:sym typeface="Open Sauce"/>
              </a:rPr>
              <a:t>Perancangan purwarupa sistem inferensi dengan membuat class StuntingDetector. Kelas ini dirancang siap pakai (dapat diintegrasikan ke API/Aplikasi) dan divalidasi dengan menyimulasikan 4 kasus data pasien baru (data tidak pernah dilihat oleh model), masing-masing merepresentasikan satu kelas risiko (Normal, Ringan, Sedang, Tinggi).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0F0F0"/>
        </a:solidFill>
      </p:bgPr>
    </p:bg>
    <p:spTree>
      <p:nvGrpSpPr>
        <p:cNvPr id="1" name=""/>
        <p:cNvGrpSpPr/>
        <p:nvPr/>
      </p:nvGrpSpPr>
      <p:grpSpPr>
        <a:xfrm>
          <a:off x="0" y="0"/>
          <a:ext cx="0" cy="0"/>
          <a:chOff x="0" y="0"/>
          <a:chExt cx="0" cy="0"/>
        </a:xfrm>
      </p:grpSpPr>
      <p:sp>
        <p:nvSpPr>
          <p:cNvPr name="Freeform 2" id="2"/>
          <p:cNvSpPr/>
          <p:nvPr/>
        </p:nvSpPr>
        <p:spPr>
          <a:xfrm flipH="false" flipV="false" rot="0">
            <a:off x="5677789" y="2597980"/>
            <a:ext cx="6932423" cy="5926542"/>
          </a:xfrm>
          <a:custGeom>
            <a:avLst/>
            <a:gdLst/>
            <a:ahLst/>
            <a:cxnLst/>
            <a:rect r="r" b="b" t="t" l="l"/>
            <a:pathLst>
              <a:path h="5926542" w="6932423">
                <a:moveTo>
                  <a:pt x="0" y="0"/>
                </a:moveTo>
                <a:lnTo>
                  <a:pt x="6932422" y="0"/>
                </a:lnTo>
                <a:lnTo>
                  <a:pt x="6932422" y="5926542"/>
                </a:lnTo>
                <a:lnTo>
                  <a:pt x="0" y="5926542"/>
                </a:lnTo>
                <a:lnTo>
                  <a:pt x="0" y="0"/>
                </a:lnTo>
                <a:close/>
              </a:path>
            </a:pathLst>
          </a:custGeom>
          <a:blipFill>
            <a:blip r:embed="rId2"/>
            <a:stretch>
              <a:fillRect l="0" t="0" r="0" b="0"/>
            </a:stretch>
          </a:blipFill>
        </p:spPr>
      </p:sp>
      <p:sp>
        <p:nvSpPr>
          <p:cNvPr name="TextBox 3" id="3"/>
          <p:cNvSpPr txBox="true"/>
          <p:nvPr/>
        </p:nvSpPr>
        <p:spPr>
          <a:xfrm rot="0">
            <a:off x="0" y="1239838"/>
            <a:ext cx="18288000" cy="971550"/>
          </a:xfrm>
          <a:prstGeom prst="rect">
            <a:avLst/>
          </a:prstGeom>
        </p:spPr>
        <p:txBody>
          <a:bodyPr anchor="t" rtlCol="false" tIns="0" lIns="0" bIns="0" rIns="0">
            <a:spAutoFit/>
          </a:bodyPr>
          <a:lstStyle/>
          <a:p>
            <a:pPr algn="ctr">
              <a:lnSpc>
                <a:spcPts val="3840"/>
              </a:lnSpc>
              <a:spcBef>
                <a:spcPct val="0"/>
              </a:spcBef>
            </a:pPr>
            <a:r>
              <a:rPr lang="en-US" b="true" sz="3200" i="true" spc="-64">
                <a:solidFill>
                  <a:srgbClr val="004AAD"/>
                </a:solidFill>
                <a:latin typeface="Open Sauce Bold Italics"/>
                <a:ea typeface="Open Sauce Bold Italics"/>
                <a:cs typeface="Open Sauce Bold Italics"/>
                <a:sym typeface="Open Sauce Bold Italics"/>
              </a:rPr>
              <a:t>LightGBM</a:t>
            </a:r>
            <a:r>
              <a:rPr lang="en-US" b="true" sz="3200" i="true" spc="-64">
                <a:solidFill>
                  <a:srgbClr val="004AAD"/>
                </a:solidFill>
                <a:latin typeface="Open Sauce Bold Italics"/>
                <a:ea typeface="Open Sauce Bold Italics"/>
                <a:cs typeface="Open Sauce Bold Italics"/>
                <a:sym typeface="Open Sauce Bold Italics"/>
              </a:rPr>
              <a:t>memperoleh akurasi sebesar 97,77%. Hasil tersebut menunjukkan bahwa model memiliki kemampuan untuk mendeteksi dengan baik. </a:t>
            </a:r>
          </a:p>
        </p:txBody>
      </p:sp>
      <p:sp>
        <p:nvSpPr>
          <p:cNvPr name="TextBox 4" id="4"/>
          <p:cNvSpPr txBox="true"/>
          <p:nvPr/>
        </p:nvSpPr>
        <p:spPr>
          <a:xfrm rot="0">
            <a:off x="6779895" y="133350"/>
            <a:ext cx="4728209" cy="856615"/>
          </a:xfrm>
          <a:prstGeom prst="rect">
            <a:avLst/>
          </a:prstGeom>
        </p:spPr>
        <p:txBody>
          <a:bodyPr anchor="t" rtlCol="false" tIns="0" lIns="0" bIns="0" rIns="0">
            <a:spAutoFit/>
          </a:bodyPr>
          <a:lstStyle/>
          <a:p>
            <a:pPr algn="l" marL="0" indent="0" lvl="0">
              <a:lnSpc>
                <a:spcPts val="6305"/>
              </a:lnSpc>
              <a:spcBef>
                <a:spcPct val="0"/>
              </a:spcBef>
            </a:pPr>
            <a:r>
              <a:rPr lang="en-US" sz="6500" spc="-130">
                <a:solidFill>
                  <a:srgbClr val="004AAD"/>
                </a:solidFill>
                <a:latin typeface="Anton"/>
                <a:ea typeface="Anton"/>
                <a:cs typeface="Anton"/>
                <a:sym typeface="Anton"/>
              </a:rPr>
              <a:t>HASIL EVALUASI</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04AAD"/>
        </a:solidFill>
      </p:bgPr>
    </p:bg>
    <p:spTree>
      <p:nvGrpSpPr>
        <p:cNvPr id="1" name=""/>
        <p:cNvGrpSpPr/>
        <p:nvPr/>
      </p:nvGrpSpPr>
      <p:grpSpPr>
        <a:xfrm>
          <a:off x="0" y="0"/>
          <a:ext cx="0" cy="0"/>
          <a:chOff x="0" y="0"/>
          <a:chExt cx="0" cy="0"/>
        </a:xfrm>
      </p:grpSpPr>
      <p:sp>
        <p:nvSpPr>
          <p:cNvPr name="TextBox 2" id="2"/>
          <p:cNvSpPr txBox="true"/>
          <p:nvPr/>
        </p:nvSpPr>
        <p:spPr>
          <a:xfrm rot="0">
            <a:off x="5378171" y="3634494"/>
            <a:ext cx="8898492" cy="3012356"/>
          </a:xfrm>
          <a:prstGeom prst="rect">
            <a:avLst/>
          </a:prstGeom>
        </p:spPr>
        <p:txBody>
          <a:bodyPr anchor="t" rtlCol="false" tIns="0" lIns="0" bIns="0" rIns="0">
            <a:spAutoFit/>
          </a:bodyPr>
          <a:lstStyle/>
          <a:p>
            <a:pPr algn="l" marL="0" indent="0" lvl="0">
              <a:lnSpc>
                <a:spcPts val="22467"/>
              </a:lnSpc>
              <a:spcBef>
                <a:spcPct val="0"/>
              </a:spcBef>
            </a:pPr>
            <a:r>
              <a:rPr lang="en-US" sz="23162" spc="-463">
                <a:solidFill>
                  <a:srgbClr val="F0F0F0"/>
                </a:solidFill>
                <a:latin typeface="Anton"/>
                <a:ea typeface="Anton"/>
                <a:cs typeface="Anton"/>
                <a:sym typeface="Anton"/>
              </a:rPr>
              <a:t>DEMO</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0F0F0"/>
        </a:solidFill>
      </p:bgPr>
    </p:bg>
    <p:spTree>
      <p:nvGrpSpPr>
        <p:cNvPr id="1" name=""/>
        <p:cNvGrpSpPr/>
        <p:nvPr/>
      </p:nvGrpSpPr>
      <p:grpSpPr>
        <a:xfrm>
          <a:off x="0" y="0"/>
          <a:ext cx="0" cy="0"/>
          <a:chOff x="0" y="0"/>
          <a:chExt cx="0" cy="0"/>
        </a:xfrm>
      </p:grpSpPr>
      <p:sp>
        <p:nvSpPr>
          <p:cNvPr name="TextBox 2" id="2"/>
          <p:cNvSpPr txBox="true"/>
          <p:nvPr/>
        </p:nvSpPr>
        <p:spPr>
          <a:xfrm rot="0">
            <a:off x="4313099" y="4143250"/>
            <a:ext cx="9661802" cy="2410074"/>
          </a:xfrm>
          <a:prstGeom prst="rect">
            <a:avLst/>
          </a:prstGeom>
        </p:spPr>
        <p:txBody>
          <a:bodyPr anchor="t" rtlCol="false" tIns="0" lIns="0" bIns="0" rIns="0">
            <a:spAutoFit/>
          </a:bodyPr>
          <a:lstStyle/>
          <a:p>
            <a:pPr algn="l" marL="0" indent="0" lvl="0">
              <a:lnSpc>
                <a:spcPts val="18052"/>
              </a:lnSpc>
              <a:spcBef>
                <a:spcPct val="0"/>
              </a:spcBef>
            </a:pPr>
            <a:r>
              <a:rPr lang="en-US" sz="18611" spc="-372">
                <a:solidFill>
                  <a:srgbClr val="004AAD"/>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DAHLUMnLaRw</dc:identifier>
  <dcterms:modified xsi:type="dcterms:W3CDTF">2011-08-01T06:04:30Z</dcterms:modified>
  <cp:revision>1</cp:revision>
  <dc:title>Blue Monochrome Modern Smart Factories Presentation</dc:title>
</cp:coreProperties>
</file>